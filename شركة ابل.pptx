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1" r:id="rId3"/>
    <p:sldId id="257" r:id="rId4"/>
    <p:sldId id="258" r:id="rId5"/>
    <p:sldId id="272" r:id="rId6"/>
    <p:sldId id="273" r:id="rId7"/>
    <p:sldId id="274" r:id="rId8"/>
    <p:sldId id="279" r:id="rId9"/>
    <p:sldId id="280" r:id="rId10"/>
    <p:sldId id="281" r:id="rId11"/>
    <p:sldId id="282" r:id="rId12"/>
    <p:sldId id="283" r:id="rId13"/>
    <p:sldId id="284" r:id="rId14"/>
    <p:sldId id="270" r:id="rId15"/>
  </p:sldIdLst>
  <p:sldSz cx="18288000" cy="10287000"/>
  <p:notesSz cx="6858000" cy="9144000"/>
  <p:embeddedFontLst>
    <p:embeddedFont>
      <p:font typeface="League Spartan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</p:embeddedFont>
    <p:embeddedFont>
      <p:font typeface="Roboto Bold" panose="020B0604020202020204" charset="0"/>
      <p:regular r:id="rId19"/>
    </p:embeddedFont>
    <p:embeddedFont>
      <p:font typeface="Montserrat Bold" pitchFamily="2" charset="0"/>
      <p:bold r:id="rId20"/>
    </p:embeddedFont>
    <p:embeddedFont>
      <p:font typeface="Poppins" panose="020B060402020202020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89" autoAdjust="0"/>
    <p:restoredTop sz="94622" autoAdjust="0"/>
  </p:normalViewPr>
  <p:slideViewPr>
    <p:cSldViewPr>
      <p:cViewPr varScale="1">
        <p:scale>
          <a:sx n="56" d="100"/>
          <a:sy n="56" d="100"/>
        </p:scale>
        <p:origin x="53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857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288529" y="3543300"/>
            <a:ext cx="9846085" cy="4665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8"/>
              </a:lnSpc>
            </a:pPr>
            <a:r>
              <a:rPr lang="en-US" sz="5303" b="1" dirty="0">
                <a:solidFill>
                  <a:srgbClr val="303642"/>
                </a:solidFill>
                <a:latin typeface="Roboto Bold"/>
                <a:ea typeface="Roboto Bold"/>
                <a:sym typeface="Montserrat Bold"/>
              </a:rPr>
              <a:t>Apple</a:t>
            </a:r>
          </a:p>
          <a:p>
            <a:pPr algn="ctr">
              <a:lnSpc>
                <a:spcPts val="12598"/>
              </a:lnSpc>
            </a:pPr>
            <a:r>
              <a:rPr lang="en-US" sz="8265" b="1" dirty="0">
                <a:solidFill>
                  <a:srgbClr val="004AAD"/>
                </a:solidFill>
                <a:latin typeface="League Spartan"/>
                <a:sym typeface="Montserrat Bold"/>
              </a:rPr>
              <a:t>Company</a:t>
            </a:r>
          </a:p>
          <a:p>
            <a:pPr algn="ctr">
              <a:lnSpc>
                <a:spcPts val="11572"/>
              </a:lnSpc>
            </a:pPr>
            <a:endParaRPr lang="en-US" sz="8265" b="1" dirty="0">
              <a:solidFill>
                <a:srgbClr val="004AAD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-1130300" y="4057750"/>
            <a:ext cx="3086100" cy="2171499"/>
            <a:chOff x="0" y="0"/>
            <a:chExt cx="812800" cy="5719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880586" y="6926541"/>
            <a:ext cx="8526827" cy="130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ar-YE" sz="2219" dirty="0">
                <a:latin typeface="Poppins"/>
              </a:rPr>
              <a:t>APPLE</a:t>
            </a:r>
            <a:r>
              <a:rPr lang="ar-YE" sz="3200" b="1" dirty="0"/>
              <a:t> </a:t>
            </a:r>
            <a:r>
              <a:rPr lang="ar-YE" sz="2219" dirty="0">
                <a:latin typeface="Poppins"/>
              </a:rPr>
              <a:t>INC</a:t>
            </a:r>
          </a:p>
          <a:p>
            <a:pPr algn="ctr">
              <a:lnSpc>
                <a:spcPts val="3600"/>
              </a:lnSpc>
            </a:pPr>
            <a:endParaRPr lang="en-US" sz="2400" b="1" dirty="0"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 dirty="0"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6467343" y="4157763"/>
            <a:ext cx="3086100" cy="2171499"/>
            <a:chOff x="0" y="0"/>
            <a:chExt cx="812800" cy="57191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9525000" cy="10287000"/>
            <a:chOff x="0" y="0"/>
            <a:chExt cx="1789026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89026" cy="2709333"/>
            </a:xfrm>
            <a:custGeom>
              <a:avLst/>
              <a:gdLst/>
              <a:ahLst/>
              <a:cxnLst/>
              <a:rect l="l" t="t" r="r" b="b"/>
              <a:pathLst>
                <a:path w="1789026" h="2709333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246833" y="8572500"/>
            <a:ext cx="897167" cy="2183545"/>
            <a:chOff x="0" y="0"/>
            <a:chExt cx="236291" cy="5750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6291" cy="575090"/>
            </a:xfrm>
            <a:custGeom>
              <a:avLst/>
              <a:gdLst/>
              <a:ahLst/>
              <a:cxnLst/>
              <a:rect l="l" t="t" r="r" b="b"/>
              <a:pathLst>
                <a:path w="236291" h="57509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2420600" y="1879447"/>
            <a:ext cx="4857773" cy="6528106"/>
            <a:chOff x="0" y="0"/>
            <a:chExt cx="3663950" cy="4923790"/>
          </a:xfrm>
        </p:grpSpPr>
        <p:sp>
          <p:nvSpPr>
            <p:cNvPr id="10" name="Freeform 10"/>
            <p:cNvSpPr/>
            <p:nvPr/>
          </p:nvSpPr>
          <p:spPr>
            <a:xfrm>
              <a:off x="31750" y="31750"/>
              <a:ext cx="3600450" cy="4859020"/>
            </a:xfrm>
            <a:custGeom>
              <a:avLst/>
              <a:gdLst/>
              <a:ahLst/>
              <a:cxnLst/>
              <a:rect l="l" t="t" r="r" b="b"/>
              <a:pathLst>
                <a:path w="3600450" h="485902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3"/>
              <a:stretch>
                <a:fillRect l="-39970" r="-39970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3663950" cy="4923790"/>
            </a:xfrm>
            <a:custGeom>
              <a:avLst/>
              <a:gdLst/>
              <a:ahLst/>
              <a:cxnLst/>
              <a:rect l="l" t="t" r="r" b="b"/>
              <a:pathLst>
                <a:path w="3663950" h="492379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4038398" y="1814097"/>
            <a:ext cx="5081789" cy="800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6372"/>
              </a:lnSpc>
            </a:pPr>
            <a:r>
              <a:rPr lang="ar-YE" sz="4708" b="1" dirty="0">
                <a:solidFill>
                  <a:srgbClr val="FFFFFF"/>
                </a:solidFill>
                <a:latin typeface="League Spartan"/>
              </a:rPr>
              <a:t>من</a:t>
            </a:r>
            <a:r>
              <a:rPr lang="ar-YE" sz="4800" b="1" dirty="0"/>
              <a:t> </a:t>
            </a:r>
            <a:r>
              <a:rPr lang="ar-YE" sz="4708" b="1" dirty="0">
                <a:solidFill>
                  <a:srgbClr val="FFFFFF"/>
                </a:solidFill>
                <a:latin typeface="League Spartan"/>
              </a:rPr>
              <a:t>هي شركة </a:t>
            </a:r>
            <a:r>
              <a:rPr lang="en-US" sz="4708" b="1" dirty="0">
                <a:solidFill>
                  <a:srgbClr val="FFFFFF"/>
                </a:solidFill>
                <a:latin typeface="League Spartan"/>
              </a:rPr>
              <a:t> Apple؟</a:t>
            </a:r>
            <a:endParaRPr lang="en-US" sz="4708" b="1" dirty="0">
              <a:solidFill>
                <a:srgbClr val="FFFFFF"/>
              </a:solidFill>
              <a:latin typeface="League Spartan"/>
              <a:sym typeface="Roboto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490787" y="3435940"/>
            <a:ext cx="6686550" cy="46642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 algn="r" rtl="1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ar-SA" sz="2800" dirty="0">
                <a:solidFill>
                  <a:srgbClr val="FFFFFF"/>
                </a:solidFill>
                <a:latin typeface="Poppins"/>
              </a:rPr>
              <a:t>التأسيس والتاريخ: تأسست عام 1976 على يد ستيف جوبز، وستيف وزنياك، ورونالد واين</a:t>
            </a:r>
            <a:endParaRPr lang="en-US" sz="2800" dirty="0">
              <a:solidFill>
                <a:srgbClr val="FFFFFF"/>
              </a:solidFill>
              <a:latin typeface="Poppins"/>
            </a:endParaRPr>
          </a:p>
          <a:p>
            <a:pPr marL="457200" lvl="0" indent="-457200" algn="r" rtl="1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ar-SA" sz="2800" dirty="0">
                <a:solidFill>
                  <a:srgbClr val="FFFFFF"/>
                </a:solidFill>
                <a:latin typeface="Poppins"/>
              </a:rPr>
              <a:t>الرؤية: إحداث ثورة في التقنيات الشخصية وتغيير كيفية تفاعل الناس مع التكنولوجيا من خلال منتجات سهلة الاستخدام ومصممة بأناقة</a:t>
            </a:r>
            <a:endParaRPr lang="en-US" sz="2800" dirty="0">
              <a:solidFill>
                <a:srgbClr val="FFFFFF"/>
              </a:solidFill>
              <a:latin typeface="Poppins"/>
            </a:endParaRPr>
          </a:p>
          <a:p>
            <a:pPr marL="457200" lvl="0" indent="-457200" algn="r" rtl="1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ar-SA" sz="2800" dirty="0">
                <a:solidFill>
                  <a:srgbClr val="FFFFFF"/>
                </a:solidFill>
                <a:latin typeface="Poppins"/>
              </a:rPr>
              <a:t>الحجم: وتتجاوز قيمتها تريليونات الدولارات، ولها قاعدة جماهيرية عالمية</a:t>
            </a:r>
            <a:endParaRPr lang="en-US" sz="2800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206574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9525000" cy="10287000"/>
            <a:chOff x="0" y="0"/>
            <a:chExt cx="1789026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89026" cy="2709333"/>
            </a:xfrm>
            <a:custGeom>
              <a:avLst/>
              <a:gdLst/>
              <a:ahLst/>
              <a:cxnLst/>
              <a:rect l="l" t="t" r="r" b="b"/>
              <a:pathLst>
                <a:path w="1789026" h="2709333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246833" y="8572500"/>
            <a:ext cx="897167" cy="2183545"/>
            <a:chOff x="0" y="0"/>
            <a:chExt cx="236291" cy="5750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6291" cy="575090"/>
            </a:xfrm>
            <a:custGeom>
              <a:avLst/>
              <a:gdLst/>
              <a:ahLst/>
              <a:cxnLst/>
              <a:rect l="l" t="t" r="r" b="b"/>
              <a:pathLst>
                <a:path w="236291" h="57509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038398" y="1814097"/>
            <a:ext cx="5081789" cy="800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6372"/>
              </a:lnSpc>
            </a:pPr>
            <a:r>
              <a:rPr lang="ar-SA" sz="4708" b="1" dirty="0">
                <a:solidFill>
                  <a:srgbClr val="FFFFFF"/>
                </a:solidFill>
                <a:latin typeface="League Spartan"/>
              </a:rPr>
              <a:t>المهمة والقيم الجوهرية</a:t>
            </a:r>
            <a:r>
              <a:rPr lang="en-US" sz="4708" b="1" dirty="0">
                <a:solidFill>
                  <a:srgbClr val="FFFFFF"/>
                </a:solidFill>
                <a:latin typeface="League Spartan"/>
              </a:rPr>
              <a:t>؟</a:t>
            </a:r>
            <a:endParaRPr lang="en-US" sz="4708" b="1" dirty="0">
              <a:solidFill>
                <a:srgbClr val="FFFFFF"/>
              </a:solidFill>
              <a:latin typeface="League Spartan"/>
              <a:sym typeface="Roboto"/>
            </a:endParaRPr>
          </a:p>
        </p:txBody>
      </p:sp>
      <p:grpSp>
        <p:nvGrpSpPr>
          <p:cNvPr id="28" name="Group 6">
            <a:extLst>
              <a:ext uri="{FF2B5EF4-FFF2-40B4-BE49-F238E27FC236}">
                <a16:creationId xmlns:a16="http://schemas.microsoft.com/office/drawing/2014/main" id="{17C14968-2E07-43D0-8F47-77A3482AA2C4}"/>
              </a:ext>
            </a:extLst>
          </p:cNvPr>
          <p:cNvGrpSpPr>
            <a:grpSpLocks noChangeAspect="1"/>
          </p:cNvGrpSpPr>
          <p:nvPr/>
        </p:nvGrpSpPr>
        <p:grpSpPr>
          <a:xfrm>
            <a:off x="12039600" y="1814097"/>
            <a:ext cx="5013951" cy="6737985"/>
            <a:chOff x="0" y="0"/>
            <a:chExt cx="3663950" cy="4923790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38B771C2-F9A2-4F6B-B32A-61D80C82012A}"/>
                </a:ext>
              </a:extLst>
            </p:cNvPr>
            <p:cNvSpPr/>
            <p:nvPr/>
          </p:nvSpPr>
          <p:spPr>
            <a:xfrm>
              <a:off x="31750" y="31750"/>
              <a:ext cx="3600450" cy="4859020"/>
            </a:xfrm>
            <a:custGeom>
              <a:avLst/>
              <a:gdLst/>
              <a:ahLst/>
              <a:cxnLst/>
              <a:rect l="l" t="t" r="r" b="b"/>
              <a:pathLst>
                <a:path w="3600450" h="485902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3"/>
              <a:stretch>
                <a:fillRect r="-102370"/>
              </a:stretch>
            </a:blipFill>
          </p:spPr>
        </p:sp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5202799A-1AB3-414E-A5FA-D21015F7A3F3}"/>
                </a:ext>
              </a:extLst>
            </p:cNvPr>
            <p:cNvSpPr/>
            <p:nvPr/>
          </p:nvSpPr>
          <p:spPr>
            <a:xfrm>
              <a:off x="0" y="0"/>
              <a:ext cx="3663950" cy="4923790"/>
            </a:xfrm>
            <a:custGeom>
              <a:avLst/>
              <a:gdLst/>
              <a:ahLst/>
              <a:cxnLst/>
              <a:rect l="l" t="t" r="r" b="b"/>
              <a:pathLst>
                <a:path w="3663950" h="492379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796533" y="3361771"/>
            <a:ext cx="8347467" cy="44632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85800" indent="-457200" algn="just" rt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FFFFFF"/>
                </a:solidFill>
                <a:latin typeface="Poppins"/>
              </a:rPr>
              <a:t> : Innovation</a:t>
            </a:r>
            <a:r>
              <a:rPr lang="ar-SA" sz="2800" dirty="0">
                <a:solidFill>
                  <a:srgbClr val="FFFFFF"/>
                </a:solidFill>
                <a:latin typeface="Poppins"/>
              </a:rPr>
              <a:t>تقديم منتجات غير مسبوقة تكسر الحواجز</a:t>
            </a:r>
            <a:endParaRPr lang="en-US" sz="2800" dirty="0">
              <a:solidFill>
                <a:srgbClr val="FFFFFF"/>
              </a:solidFill>
              <a:latin typeface="Poppins"/>
            </a:endParaRPr>
          </a:p>
          <a:p>
            <a:pPr marL="685800" indent="-457200" algn="just" rt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FFFFFF"/>
                </a:solidFill>
                <a:latin typeface="Poppins"/>
              </a:rPr>
              <a:t> : Accessibility </a:t>
            </a:r>
            <a:r>
              <a:rPr lang="ar-SA" sz="2800" dirty="0">
                <a:solidFill>
                  <a:srgbClr val="FFFFFF"/>
                </a:solidFill>
                <a:latin typeface="Poppins"/>
              </a:rPr>
              <a:t>تصميم المنتجات لتكون متاحة للجميع</a:t>
            </a:r>
            <a:endParaRPr lang="en-US" sz="2800" dirty="0">
              <a:solidFill>
                <a:srgbClr val="FFFFFF"/>
              </a:solidFill>
              <a:latin typeface="Poppins"/>
            </a:endParaRPr>
          </a:p>
          <a:p>
            <a:pPr marL="685800" indent="-457200" algn="just" rt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FFFFFF"/>
                </a:solidFill>
                <a:latin typeface="Poppins"/>
              </a:rPr>
              <a:t> : Privacy </a:t>
            </a:r>
            <a:r>
              <a:rPr lang="ar-SA" sz="2800" dirty="0">
                <a:solidFill>
                  <a:srgbClr val="FFFFFF"/>
                </a:solidFill>
                <a:latin typeface="Poppins"/>
              </a:rPr>
              <a:t>وضع خصوصية المستخدم كحق أساسي لا يمكن التنازل عنه</a:t>
            </a:r>
            <a:endParaRPr lang="en-US" sz="2800" dirty="0">
              <a:solidFill>
                <a:srgbClr val="FFFFFF"/>
              </a:solidFill>
              <a:latin typeface="Poppins"/>
            </a:endParaRPr>
          </a:p>
          <a:p>
            <a:pPr marL="685800" indent="-457200" algn="just" rt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FFFFFF"/>
                </a:solidFill>
                <a:latin typeface="Poppins"/>
              </a:rPr>
              <a:t> : Environmental Sustainability </a:t>
            </a:r>
            <a:r>
              <a:rPr lang="ar-SA" sz="2800" dirty="0">
                <a:solidFill>
                  <a:srgbClr val="FFFFFF"/>
                </a:solidFill>
                <a:latin typeface="Poppins"/>
              </a:rPr>
              <a:t>الالتزام بتحقيق بصمة كربونية صفرية عبر سلسلة الإمداد</a:t>
            </a:r>
            <a:endParaRPr lang="en-US" sz="2800" dirty="0">
              <a:solidFill>
                <a:srgbClr val="FFFFFF"/>
              </a:solidFill>
              <a:latin typeface="Poppins"/>
            </a:endParaRPr>
          </a:p>
          <a:p>
            <a:pPr algn="just" rtl="1">
              <a:lnSpc>
                <a:spcPct val="150000"/>
              </a:lnSpc>
              <a:spcAft>
                <a:spcPts val="800"/>
              </a:spcAft>
            </a:pPr>
            <a:endParaRPr lang="en-US" sz="2800" dirty="0">
              <a:solidFill>
                <a:srgbClr val="FFFFFF"/>
              </a:solidFill>
              <a:latin typeface="Poppi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582400" y="0"/>
            <a:ext cx="6705600" cy="10287000"/>
            <a:chOff x="0" y="0"/>
            <a:chExt cx="1680318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80318" cy="2709333"/>
            </a:xfrm>
            <a:custGeom>
              <a:avLst/>
              <a:gdLst/>
              <a:ahLst/>
              <a:cxnLst/>
              <a:rect l="l" t="t" r="r" b="b"/>
              <a:pathLst>
                <a:path w="1680318" h="2709333">
                  <a:moveTo>
                    <a:pt x="0" y="0"/>
                  </a:moveTo>
                  <a:lnTo>
                    <a:pt x="1680318" y="0"/>
                  </a:lnTo>
                  <a:lnTo>
                    <a:pt x="168031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680318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990600" y="2013020"/>
            <a:ext cx="1601933" cy="6466659"/>
            <a:chOff x="0" y="0"/>
            <a:chExt cx="421908" cy="170315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21908" cy="1703153"/>
            </a:xfrm>
            <a:custGeom>
              <a:avLst/>
              <a:gdLst/>
              <a:ahLst/>
              <a:cxnLst/>
              <a:rect l="l" t="t" r="r" b="b"/>
              <a:pathLst>
                <a:path w="421908" h="1703153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9916962" y="937030"/>
            <a:ext cx="8148726" cy="762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SA" sz="4708" b="1" dirty="0">
                <a:solidFill>
                  <a:srgbClr val="FFFFFF"/>
                </a:solidFill>
                <a:latin typeface="League Spartan"/>
              </a:rPr>
              <a:t>ما الذي يدفع عجلة</a:t>
            </a:r>
            <a:r>
              <a:rPr lang="en-US" sz="4708" b="1" dirty="0">
                <a:solidFill>
                  <a:srgbClr val="FFFFFF"/>
                </a:solidFill>
                <a:latin typeface="League Spartan"/>
              </a:rPr>
              <a:t>  Apple </a:t>
            </a:r>
            <a:r>
              <a:rPr lang="ar-YE" sz="4708" b="1" dirty="0">
                <a:solidFill>
                  <a:srgbClr val="FFFFFF"/>
                </a:solidFill>
                <a:latin typeface="League Spartan"/>
              </a:rPr>
              <a:t>؟</a:t>
            </a:r>
            <a:endParaRPr lang="en-US" sz="4708" b="1" dirty="0">
              <a:solidFill>
                <a:srgbClr val="FFFFFF"/>
              </a:solidFill>
              <a:latin typeface="League Spartan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2782245" y="1901472"/>
            <a:ext cx="5010047" cy="77401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lang="ar-SA" sz="4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المدخلات</a:t>
            </a:r>
            <a:r>
              <a:rPr lang="en-US" sz="4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SA" sz="4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4800" dirty="0">
              <a:solidFill>
                <a:schemeClr val="bg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lang="ar-SA" sz="4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هي الموارد الأساسية التي تعتمد عليها الشركة لتحويلها إلى منتجات وخدمات. يمكن تصنيف مدخلات</a:t>
            </a:r>
            <a:r>
              <a:rPr lang="en-US" sz="4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Apple </a:t>
            </a:r>
            <a:r>
              <a:rPr lang="ar-SA" sz="4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إلى ثلاثة أنواع رئيسية</a:t>
            </a:r>
            <a:r>
              <a:rPr lang="en-US" sz="4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endParaRPr lang="en-US" sz="4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29" name="مجموعة 28">
            <a:extLst>
              <a:ext uri="{FF2B5EF4-FFF2-40B4-BE49-F238E27FC236}">
                <a16:creationId xmlns:a16="http://schemas.microsoft.com/office/drawing/2014/main" id="{0147530D-E953-4A57-9D22-2F42BFC1B876}"/>
              </a:ext>
            </a:extLst>
          </p:cNvPr>
          <p:cNvGrpSpPr/>
          <p:nvPr/>
        </p:nvGrpSpPr>
        <p:grpSpPr>
          <a:xfrm>
            <a:off x="10640583" y="1606753"/>
            <a:ext cx="1868266" cy="1868266"/>
            <a:chOff x="10640583" y="1606753"/>
            <a:chExt cx="1868266" cy="1868266"/>
          </a:xfrm>
        </p:grpSpPr>
        <p:grpSp>
          <p:nvGrpSpPr>
            <p:cNvPr id="6" name="Group 6"/>
            <p:cNvGrpSpPr/>
            <p:nvPr/>
          </p:nvGrpSpPr>
          <p:grpSpPr>
            <a:xfrm>
              <a:off x="10640583" y="1606753"/>
              <a:ext cx="1868266" cy="1868266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10755298" y="1901472"/>
              <a:ext cx="1638836" cy="13359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02"/>
                </a:lnSpc>
              </a:pPr>
              <a:r>
                <a:rPr lang="en-US" sz="7859" dirty="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</a:t>
              </a:r>
            </a:p>
          </p:txBody>
        </p:sp>
      </p:grpSp>
      <p:grpSp>
        <p:nvGrpSpPr>
          <p:cNvPr id="30" name="مجموعة 29">
            <a:extLst>
              <a:ext uri="{FF2B5EF4-FFF2-40B4-BE49-F238E27FC236}">
                <a16:creationId xmlns:a16="http://schemas.microsoft.com/office/drawing/2014/main" id="{F0A8D2CA-BAE2-4522-973E-7E2AA0D934F5}"/>
              </a:ext>
            </a:extLst>
          </p:cNvPr>
          <p:cNvGrpSpPr/>
          <p:nvPr/>
        </p:nvGrpSpPr>
        <p:grpSpPr>
          <a:xfrm>
            <a:off x="10640583" y="4209367"/>
            <a:ext cx="1868266" cy="1868266"/>
            <a:chOff x="10640583" y="4210291"/>
            <a:chExt cx="1868266" cy="1868266"/>
          </a:xfrm>
        </p:grpSpPr>
        <p:grpSp>
          <p:nvGrpSpPr>
            <p:cNvPr id="12" name="Group 12"/>
            <p:cNvGrpSpPr/>
            <p:nvPr/>
          </p:nvGrpSpPr>
          <p:grpSpPr>
            <a:xfrm>
              <a:off x="10640583" y="4210291"/>
              <a:ext cx="1868266" cy="1868266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0755298" y="4495485"/>
              <a:ext cx="1638836" cy="13359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02"/>
                </a:lnSpc>
              </a:pPr>
              <a:r>
                <a:rPr lang="en-US" sz="7859" b="1" dirty="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</a:t>
              </a:r>
            </a:p>
          </p:txBody>
        </p:sp>
      </p:grpSp>
      <p:grpSp>
        <p:nvGrpSpPr>
          <p:cNvPr id="31" name="مجموعة 30">
            <a:extLst>
              <a:ext uri="{FF2B5EF4-FFF2-40B4-BE49-F238E27FC236}">
                <a16:creationId xmlns:a16="http://schemas.microsoft.com/office/drawing/2014/main" id="{D993EE23-9E9A-4C51-A23B-7D988C325F12}"/>
              </a:ext>
            </a:extLst>
          </p:cNvPr>
          <p:cNvGrpSpPr/>
          <p:nvPr/>
        </p:nvGrpSpPr>
        <p:grpSpPr>
          <a:xfrm>
            <a:off x="10640583" y="6811982"/>
            <a:ext cx="1868266" cy="1868266"/>
            <a:chOff x="10640583" y="6811982"/>
            <a:chExt cx="1868266" cy="1868266"/>
          </a:xfrm>
        </p:grpSpPr>
        <p:grpSp>
          <p:nvGrpSpPr>
            <p:cNvPr id="15" name="Group 15"/>
            <p:cNvGrpSpPr/>
            <p:nvPr/>
          </p:nvGrpSpPr>
          <p:grpSpPr>
            <a:xfrm>
              <a:off x="10640583" y="6811982"/>
              <a:ext cx="1868266" cy="1868266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0755298" y="7097732"/>
              <a:ext cx="1638836" cy="13359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02"/>
                </a:lnSpc>
              </a:pPr>
              <a:r>
                <a:rPr lang="en-US" sz="7859" dirty="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3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063557" y="2330270"/>
            <a:ext cx="7968822" cy="563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r" rtl="1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ar-SA" sz="3600" dirty="0">
                <a:latin typeface="Calibri" panose="020F0502020204030204" pitchFamily="34" charset="0"/>
                <a:cs typeface="Times New Roman" panose="02020603050405020304" pitchFamily="18" charset="0"/>
              </a:rPr>
              <a:t>رأس المال البشري (المواهب، المصممون، المهندسون)</a:t>
            </a:r>
            <a:endParaRPr lang="en-US" sz="36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127530" y="5075294"/>
            <a:ext cx="7789432" cy="563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r" rtl="1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ar-SA" sz="3600" dirty="0">
                <a:latin typeface="Calibri" panose="020F0502020204030204" pitchFamily="34" charset="0"/>
                <a:cs typeface="Times New Roman" panose="02020603050405020304" pitchFamily="18" charset="0"/>
              </a:rPr>
              <a:t>الموارد المادية (المكونات، المواد الخام، البنية التحتية)</a:t>
            </a:r>
            <a:endParaRPr lang="en-US" sz="36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655576" y="7344565"/>
            <a:ext cx="8246632" cy="563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r" rtl="1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ar-SA" sz="3600" dirty="0">
                <a:latin typeface="Calibri" panose="020F0502020204030204" pitchFamily="34" charset="0"/>
                <a:cs typeface="Times New Roman" panose="02020603050405020304" pitchFamily="18" charset="0"/>
              </a:rPr>
              <a:t>رأس المال الفكري (البراءات، الملكية الفكرية، الأبحاث)</a:t>
            </a:r>
            <a:endParaRPr lang="en-US" sz="36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9525000" cy="10287000"/>
            <a:chOff x="0" y="0"/>
            <a:chExt cx="1789026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89026" cy="2709333"/>
            </a:xfrm>
            <a:custGeom>
              <a:avLst/>
              <a:gdLst/>
              <a:ahLst/>
              <a:cxnLst/>
              <a:rect l="l" t="t" r="r" b="b"/>
              <a:pathLst>
                <a:path w="1789026" h="2709333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246833" y="8572500"/>
            <a:ext cx="897167" cy="2183545"/>
            <a:chOff x="0" y="0"/>
            <a:chExt cx="236291" cy="5750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6291" cy="575090"/>
            </a:xfrm>
            <a:custGeom>
              <a:avLst/>
              <a:gdLst/>
              <a:ahLst/>
              <a:cxnLst/>
              <a:rect l="l" t="t" r="r" b="b"/>
              <a:pathLst>
                <a:path w="236291" h="57509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2420600" y="1879447"/>
            <a:ext cx="4857773" cy="6528106"/>
            <a:chOff x="0" y="0"/>
            <a:chExt cx="3663950" cy="4923790"/>
          </a:xfrm>
        </p:grpSpPr>
        <p:sp>
          <p:nvSpPr>
            <p:cNvPr id="10" name="Freeform 10"/>
            <p:cNvSpPr/>
            <p:nvPr/>
          </p:nvSpPr>
          <p:spPr>
            <a:xfrm>
              <a:off x="31750" y="31750"/>
              <a:ext cx="3600450" cy="4859020"/>
            </a:xfrm>
            <a:custGeom>
              <a:avLst/>
              <a:gdLst/>
              <a:ahLst/>
              <a:cxnLst/>
              <a:rect l="l" t="t" r="r" b="b"/>
              <a:pathLst>
                <a:path w="3600450" h="485902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3"/>
              <a:stretch>
                <a:fillRect l="-39970" r="-39970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3663950" cy="4923790"/>
            </a:xfrm>
            <a:custGeom>
              <a:avLst/>
              <a:gdLst/>
              <a:ahLst/>
              <a:cxnLst/>
              <a:rect l="l" t="t" r="r" b="b"/>
              <a:pathLst>
                <a:path w="3663950" h="492379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4038398" y="1814097"/>
            <a:ext cx="5081789" cy="800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6372"/>
              </a:lnSpc>
            </a:pPr>
            <a:r>
              <a:rPr lang="ar-YE" sz="4708" b="1" dirty="0">
                <a:solidFill>
                  <a:srgbClr val="FFFFFF"/>
                </a:solidFill>
                <a:latin typeface="League Spartan"/>
              </a:rPr>
              <a:t>أولاً : رأس المال البشري</a:t>
            </a:r>
            <a:endParaRPr lang="en-US" sz="4708" b="1" dirty="0">
              <a:solidFill>
                <a:srgbClr val="FFFFFF"/>
              </a:solidFill>
              <a:latin typeface="League Spartan"/>
              <a:sym typeface="Roboto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96533" y="3361771"/>
            <a:ext cx="8347467" cy="62688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rtl="1">
              <a:lnSpc>
                <a:spcPct val="150000"/>
              </a:lnSpc>
              <a:spcAft>
                <a:spcPts val="800"/>
              </a:spcAft>
            </a:pPr>
            <a:r>
              <a:rPr lang="ar-YE" sz="2800" dirty="0">
                <a:solidFill>
                  <a:srgbClr val="FFFFFF"/>
                </a:solidFill>
                <a:latin typeface="Poppins"/>
              </a:rPr>
              <a:t>المصممون والمهندسون والمواهب التقنية:</a:t>
            </a:r>
          </a:p>
          <a:p>
            <a:pPr marL="457200" indent="-457200" algn="just" rtl="1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ar-SA" sz="2800" dirty="0">
                <a:solidFill>
                  <a:srgbClr val="FFFFFF"/>
                </a:solidFill>
                <a:latin typeface="Poppins"/>
              </a:rPr>
              <a:t>فريق التصميم: يركز على بساطة الاستخدام والجمالية مثل فريق جوني إيف سابقاً</a:t>
            </a:r>
            <a:endParaRPr lang="en-US" sz="2800" dirty="0">
              <a:solidFill>
                <a:srgbClr val="FFFFFF"/>
              </a:solidFill>
              <a:latin typeface="Poppins"/>
            </a:endParaRPr>
          </a:p>
          <a:p>
            <a:pPr marL="457200" indent="-457200" algn="just" rtl="1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ar-SA" sz="2800" dirty="0">
                <a:solidFill>
                  <a:srgbClr val="FFFFFF"/>
                </a:solidFill>
                <a:latin typeface="Poppins"/>
              </a:rPr>
              <a:t>العمالة الماهرة: الأفراد العاملون في البحث والتطوير</a:t>
            </a:r>
            <a:r>
              <a:rPr lang="en-US" sz="2800" dirty="0">
                <a:solidFill>
                  <a:srgbClr val="FFFFFF"/>
                </a:solidFill>
                <a:latin typeface="Poppins"/>
              </a:rPr>
              <a:t> (R&amp;D) </a:t>
            </a:r>
            <a:r>
              <a:rPr lang="ar-SA" sz="2800" dirty="0">
                <a:solidFill>
                  <a:srgbClr val="FFFFFF"/>
                </a:solidFill>
                <a:latin typeface="Poppins"/>
              </a:rPr>
              <a:t>لأنظمة مثل</a:t>
            </a:r>
            <a:r>
              <a:rPr lang="en-US" sz="2800" dirty="0">
                <a:solidFill>
                  <a:srgbClr val="FFFFFF"/>
                </a:solidFill>
                <a:latin typeface="Poppins"/>
              </a:rPr>
              <a:t> (iOS, macOS) </a:t>
            </a:r>
            <a:r>
              <a:rPr lang="ar-SA" sz="2800" dirty="0">
                <a:solidFill>
                  <a:srgbClr val="FFFFFF"/>
                </a:solidFill>
                <a:latin typeface="Poppins"/>
              </a:rPr>
              <a:t>وفي مراكز البيانات الموزعة عالمياً</a:t>
            </a:r>
            <a:endParaRPr lang="en-US" sz="2800" dirty="0">
              <a:solidFill>
                <a:srgbClr val="FFFFFF"/>
              </a:solidFill>
              <a:latin typeface="Poppins"/>
            </a:endParaRPr>
          </a:p>
          <a:p>
            <a:pPr marL="457200" indent="-457200" algn="just" rtl="1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ar-SA" sz="2800" dirty="0">
                <a:solidFill>
                  <a:srgbClr val="FFFFFF"/>
                </a:solidFill>
                <a:latin typeface="Poppins"/>
              </a:rPr>
              <a:t>القيادة الإستراتيجية: فريق الإدارة التنفيذية بقيادة تيم كوك الذي يقود التوسع في مجال الخدمات</a:t>
            </a:r>
            <a:endParaRPr lang="en-US" sz="2800" dirty="0">
              <a:solidFill>
                <a:srgbClr val="FFFFFF"/>
              </a:solidFill>
              <a:latin typeface="Poppins"/>
            </a:endParaRPr>
          </a:p>
          <a:p>
            <a:pPr algn="just" rtl="1">
              <a:lnSpc>
                <a:spcPct val="150000"/>
              </a:lnSpc>
              <a:spcAft>
                <a:spcPts val="800"/>
              </a:spcAft>
            </a:pPr>
            <a:endParaRPr lang="en-US" sz="2800" dirty="0">
              <a:solidFill>
                <a:srgbClr val="FFFFFF"/>
              </a:solidFill>
              <a:latin typeface="Poppins"/>
            </a:endParaRPr>
          </a:p>
          <a:p>
            <a:pPr marL="457200" indent="-457200" algn="just" rtl="1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endParaRPr lang="en-US" sz="2800" dirty="0">
              <a:solidFill>
                <a:srgbClr val="FFFFFF"/>
              </a:solidFill>
              <a:latin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84031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9525000" cy="10287000"/>
            <a:chOff x="0" y="0"/>
            <a:chExt cx="1789026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89026" cy="2709333"/>
            </a:xfrm>
            <a:custGeom>
              <a:avLst/>
              <a:gdLst/>
              <a:ahLst/>
              <a:cxnLst/>
              <a:rect l="l" t="t" r="r" b="b"/>
              <a:pathLst>
                <a:path w="1789026" h="2709333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246833" y="8575239"/>
            <a:ext cx="897167" cy="2183545"/>
            <a:chOff x="0" y="0"/>
            <a:chExt cx="236291" cy="5750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6291" cy="575090"/>
            </a:xfrm>
            <a:custGeom>
              <a:avLst/>
              <a:gdLst/>
              <a:ahLst/>
              <a:cxnLst/>
              <a:rect l="l" t="t" r="r" b="b"/>
              <a:pathLst>
                <a:path w="236291" h="57509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038398" y="1814097"/>
            <a:ext cx="5081789" cy="800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6372"/>
              </a:lnSpc>
            </a:pPr>
            <a:r>
              <a:rPr lang="ar-YE" sz="4708" b="1" dirty="0">
                <a:solidFill>
                  <a:srgbClr val="FFFFFF"/>
                </a:solidFill>
                <a:latin typeface="League Spartan"/>
              </a:rPr>
              <a:t>ثانياً : الموارد المادية</a:t>
            </a:r>
            <a:endParaRPr lang="en-US" sz="4708" b="1" dirty="0">
              <a:solidFill>
                <a:srgbClr val="FFFFFF"/>
              </a:solidFill>
              <a:latin typeface="League Spartan"/>
              <a:sym typeface="Roboto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38200" y="3086100"/>
            <a:ext cx="8415338" cy="61663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rtl="1">
              <a:lnSpc>
                <a:spcPct val="150000"/>
              </a:lnSpc>
              <a:spcAft>
                <a:spcPts val="800"/>
              </a:spcAft>
            </a:pPr>
            <a:r>
              <a:rPr lang="ar-YE" sz="2800" dirty="0">
                <a:solidFill>
                  <a:srgbClr val="FFFFFF"/>
                </a:solidFill>
                <a:latin typeface="Poppins"/>
              </a:rPr>
              <a:t>المكونات والمواد الخام والإنتاج:</a:t>
            </a:r>
          </a:p>
          <a:p>
            <a:pPr marL="685800" indent="-457200" algn="r" rtl="1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ar-SA" sz="2800" dirty="0">
                <a:solidFill>
                  <a:srgbClr val="FFFFFF"/>
                </a:solidFill>
                <a:latin typeface="Poppins"/>
              </a:rPr>
              <a:t>المواد الخام: المعادن النادرة، الألومنيوم، الزجاج، والبوليمرات المستخدمة في تصنيع الهياكل</a:t>
            </a:r>
            <a:endParaRPr lang="en-US" sz="2800" dirty="0">
              <a:solidFill>
                <a:srgbClr val="FFFFFF"/>
              </a:solidFill>
              <a:latin typeface="Poppins"/>
            </a:endParaRPr>
          </a:p>
          <a:p>
            <a:pPr marL="685800" indent="-457200" algn="r" rtl="1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ar-SA" sz="2800" dirty="0">
                <a:solidFill>
                  <a:srgbClr val="FFFFFF"/>
                </a:solidFill>
                <a:latin typeface="Poppins"/>
              </a:rPr>
              <a:t>المكونات الإلكترونية: المعالجات الدقيقة</a:t>
            </a:r>
            <a:r>
              <a:rPr lang="en-US" sz="2800" dirty="0">
                <a:solidFill>
                  <a:srgbClr val="FFFFFF"/>
                </a:solidFill>
                <a:latin typeface="Poppins"/>
              </a:rPr>
              <a:t> </a:t>
            </a:r>
            <a:r>
              <a:rPr lang="ar-SA" sz="2800" dirty="0">
                <a:solidFill>
                  <a:srgbClr val="FFFFFF"/>
                </a:solidFill>
                <a:latin typeface="Poppins"/>
              </a:rPr>
              <a:t>شرائح</a:t>
            </a:r>
            <a:r>
              <a:rPr lang="en-US" sz="2800" dirty="0">
                <a:solidFill>
                  <a:srgbClr val="FFFFFF"/>
                </a:solidFill>
                <a:latin typeface="Poppins"/>
              </a:rPr>
              <a:t> Apple Silicon) </a:t>
            </a:r>
            <a:r>
              <a:rPr lang="ar-SA" sz="2800" dirty="0">
                <a:solidFill>
                  <a:srgbClr val="FFFFFF"/>
                </a:solidFill>
                <a:latin typeface="Poppins"/>
              </a:rPr>
              <a:t>مثل</a:t>
            </a:r>
            <a:r>
              <a:rPr lang="en-US" sz="2800" dirty="0">
                <a:solidFill>
                  <a:srgbClr val="FFFFFF"/>
                </a:solidFill>
                <a:latin typeface="Poppins"/>
              </a:rPr>
              <a:t> A-series </a:t>
            </a:r>
            <a:r>
              <a:rPr lang="ar-SA" sz="2800" dirty="0">
                <a:solidFill>
                  <a:srgbClr val="FFFFFF"/>
                </a:solidFill>
                <a:latin typeface="Poppins"/>
              </a:rPr>
              <a:t>و</a:t>
            </a:r>
            <a:r>
              <a:rPr lang="en-US" sz="2800" dirty="0">
                <a:solidFill>
                  <a:srgbClr val="FFFFFF"/>
                </a:solidFill>
                <a:latin typeface="Poppins"/>
              </a:rPr>
              <a:t> (M-series </a:t>
            </a:r>
            <a:r>
              <a:rPr lang="ar-SA" sz="2800" dirty="0">
                <a:solidFill>
                  <a:srgbClr val="FFFFFF"/>
                </a:solidFill>
                <a:latin typeface="Poppins"/>
              </a:rPr>
              <a:t>وشاشات</a:t>
            </a:r>
            <a:r>
              <a:rPr lang="en-US" sz="2800" dirty="0">
                <a:solidFill>
                  <a:srgbClr val="FFFFFF"/>
                </a:solidFill>
                <a:latin typeface="Poppins"/>
              </a:rPr>
              <a:t> (OLED)</a:t>
            </a:r>
          </a:p>
          <a:p>
            <a:pPr marL="685800" indent="-457200" algn="r" rtl="1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ar-SA" sz="2800" dirty="0">
                <a:solidFill>
                  <a:srgbClr val="FFFFFF"/>
                </a:solidFill>
                <a:latin typeface="Poppins"/>
              </a:rPr>
              <a:t>الاستثمار</a:t>
            </a:r>
            <a:r>
              <a:rPr lang="en-US" sz="2800" dirty="0">
                <a:solidFill>
                  <a:srgbClr val="FFFFFF"/>
                </a:solidFill>
                <a:latin typeface="Poppins"/>
              </a:rPr>
              <a:t>:</a:t>
            </a:r>
            <a:endParaRPr lang="ar-YE" sz="2800" dirty="0">
              <a:solidFill>
                <a:srgbClr val="FFFFFF"/>
              </a:solidFill>
              <a:latin typeface="Poppins"/>
            </a:endParaRPr>
          </a:p>
          <a:p>
            <a:pPr marL="1600200" lvl="2" indent="-457200" algn="r" rtl="1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ar-SA" sz="2800" dirty="0">
                <a:solidFill>
                  <a:srgbClr val="FFFFFF"/>
                </a:solidFill>
                <a:latin typeface="Poppins"/>
              </a:rPr>
              <a:t>رأس المال المادي: المصانع الكبرى (سلسلة التوريد في آسيا بشكل أساسي)، ومراكز التوزيع، ومقرات الشركات مثل</a:t>
            </a:r>
            <a:r>
              <a:rPr lang="en-US" sz="2800" dirty="0">
                <a:solidFill>
                  <a:srgbClr val="FFFFFF"/>
                </a:solidFill>
                <a:latin typeface="Poppins"/>
              </a:rPr>
              <a:t> Apple Park</a:t>
            </a:r>
          </a:p>
        </p:txBody>
      </p:sp>
      <p:grpSp>
        <p:nvGrpSpPr>
          <p:cNvPr id="16" name="Group 6">
            <a:extLst>
              <a:ext uri="{FF2B5EF4-FFF2-40B4-BE49-F238E27FC236}">
                <a16:creationId xmlns:a16="http://schemas.microsoft.com/office/drawing/2014/main" id="{C9D1B38B-9C97-4326-A2B0-E7A4E7F340BF}"/>
              </a:ext>
            </a:extLst>
          </p:cNvPr>
          <p:cNvGrpSpPr>
            <a:grpSpLocks noChangeAspect="1"/>
          </p:cNvGrpSpPr>
          <p:nvPr/>
        </p:nvGrpSpPr>
        <p:grpSpPr>
          <a:xfrm>
            <a:off x="11905394" y="1853565"/>
            <a:ext cx="5013951" cy="6737985"/>
            <a:chOff x="0" y="0"/>
            <a:chExt cx="3663950" cy="4923790"/>
          </a:xfrm>
        </p:grpSpPr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154CF84F-AD80-49AE-8FA1-C0587CA0C35B}"/>
                </a:ext>
              </a:extLst>
            </p:cNvPr>
            <p:cNvSpPr/>
            <p:nvPr/>
          </p:nvSpPr>
          <p:spPr>
            <a:xfrm>
              <a:off x="31750" y="31750"/>
              <a:ext cx="3600450" cy="4859020"/>
            </a:xfrm>
            <a:custGeom>
              <a:avLst/>
              <a:gdLst/>
              <a:ahLst/>
              <a:cxnLst/>
              <a:rect l="l" t="t" r="r" b="b"/>
              <a:pathLst>
                <a:path w="3600450" h="485902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3"/>
              <a:stretch>
                <a:fillRect r="-102370"/>
              </a:stretch>
            </a:blipFill>
          </p:spPr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4D5B8B82-E6D2-47CE-9F3D-40B0BEFD193B}"/>
                </a:ext>
              </a:extLst>
            </p:cNvPr>
            <p:cNvSpPr/>
            <p:nvPr/>
          </p:nvSpPr>
          <p:spPr>
            <a:xfrm>
              <a:off x="0" y="0"/>
              <a:ext cx="3663950" cy="4923790"/>
            </a:xfrm>
            <a:custGeom>
              <a:avLst/>
              <a:gdLst/>
              <a:ahLst/>
              <a:cxnLst/>
              <a:rect l="l" t="t" r="r" b="b"/>
              <a:pathLst>
                <a:path w="3663950" h="492379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</p:spTree>
    <p:extLst>
      <p:ext uri="{BB962C8B-B14F-4D97-AF65-F5344CB8AC3E}">
        <p14:creationId xmlns:p14="http://schemas.microsoft.com/office/powerpoint/2010/main" val="3970291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9525000" cy="10287000"/>
            <a:chOff x="0" y="0"/>
            <a:chExt cx="1789026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89026" cy="2709333"/>
            </a:xfrm>
            <a:custGeom>
              <a:avLst/>
              <a:gdLst/>
              <a:ahLst/>
              <a:cxnLst/>
              <a:rect l="l" t="t" r="r" b="b"/>
              <a:pathLst>
                <a:path w="1789026" h="2709333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246833" y="8572500"/>
            <a:ext cx="897167" cy="2183545"/>
            <a:chOff x="0" y="0"/>
            <a:chExt cx="236291" cy="5750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6291" cy="575090"/>
            </a:xfrm>
            <a:custGeom>
              <a:avLst/>
              <a:gdLst/>
              <a:ahLst/>
              <a:cxnLst/>
              <a:rect l="l" t="t" r="r" b="b"/>
              <a:pathLst>
                <a:path w="236291" h="57509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2420600" y="1879447"/>
            <a:ext cx="4857773" cy="6528106"/>
            <a:chOff x="0" y="0"/>
            <a:chExt cx="3663950" cy="4923790"/>
          </a:xfrm>
        </p:grpSpPr>
        <p:sp>
          <p:nvSpPr>
            <p:cNvPr id="10" name="Freeform 10"/>
            <p:cNvSpPr/>
            <p:nvPr/>
          </p:nvSpPr>
          <p:spPr>
            <a:xfrm>
              <a:off x="31750" y="31750"/>
              <a:ext cx="3600450" cy="4859020"/>
            </a:xfrm>
            <a:custGeom>
              <a:avLst/>
              <a:gdLst/>
              <a:ahLst/>
              <a:cxnLst/>
              <a:rect l="l" t="t" r="r" b="b"/>
              <a:pathLst>
                <a:path w="3600450" h="485902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3"/>
              <a:stretch>
                <a:fillRect l="-39970" r="-39970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3663950" cy="4923790"/>
            </a:xfrm>
            <a:custGeom>
              <a:avLst/>
              <a:gdLst/>
              <a:ahLst/>
              <a:cxnLst/>
              <a:rect l="l" t="t" r="r" b="b"/>
              <a:pathLst>
                <a:path w="3663950" h="492379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4038398" y="1814097"/>
            <a:ext cx="5081789" cy="16174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6372"/>
              </a:lnSpc>
            </a:pPr>
            <a:r>
              <a:rPr lang="ar-YE" sz="4708" b="1" dirty="0">
                <a:solidFill>
                  <a:srgbClr val="FFFFFF"/>
                </a:solidFill>
                <a:latin typeface="League Spartan"/>
              </a:rPr>
              <a:t>ثالثاً : </a:t>
            </a:r>
            <a:r>
              <a:rPr lang="ar-SA" sz="4708" b="1" dirty="0">
                <a:solidFill>
                  <a:srgbClr val="FFFFFF"/>
                </a:solidFill>
                <a:latin typeface="League Spartan"/>
              </a:rPr>
              <a:t>رأس المال الفكري</a:t>
            </a:r>
            <a:endParaRPr lang="en-US" sz="4708" b="1" dirty="0">
              <a:solidFill>
                <a:srgbClr val="FFFFFF"/>
              </a:solidFill>
              <a:latin typeface="League Spartan"/>
            </a:endParaRPr>
          </a:p>
          <a:p>
            <a:pPr algn="r" rtl="1">
              <a:lnSpc>
                <a:spcPts val="6372"/>
              </a:lnSpc>
            </a:pPr>
            <a:endParaRPr lang="en-US" sz="4708" b="1" dirty="0">
              <a:solidFill>
                <a:srgbClr val="FFFFFF"/>
              </a:solidFill>
              <a:latin typeface="League Spartan"/>
              <a:sym typeface="Roboto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88766" y="3405111"/>
            <a:ext cx="8347467" cy="69152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rtl="1">
              <a:lnSpc>
                <a:spcPct val="150000"/>
              </a:lnSpc>
              <a:spcAft>
                <a:spcPts val="800"/>
              </a:spcAft>
            </a:pPr>
            <a:r>
              <a:rPr lang="ar-SA" sz="2800" dirty="0">
                <a:solidFill>
                  <a:srgbClr val="FFFFFF"/>
                </a:solidFill>
                <a:latin typeface="Poppins"/>
              </a:rPr>
              <a:t>قوة الملكية الفكرية والتكنولوجيا</a:t>
            </a:r>
            <a:r>
              <a:rPr lang="ar-YE" sz="2800" dirty="0">
                <a:solidFill>
                  <a:srgbClr val="FFFFFF"/>
                </a:solidFill>
                <a:latin typeface="Poppins"/>
              </a:rPr>
              <a:t>:</a:t>
            </a:r>
            <a:endParaRPr lang="en-US" sz="2800" dirty="0">
              <a:solidFill>
                <a:srgbClr val="FFFFFF"/>
              </a:solidFill>
              <a:latin typeface="Poppins"/>
            </a:endParaRPr>
          </a:p>
          <a:p>
            <a:pPr marL="685800" indent="-457200" algn="just" rtl="1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ar-SA" sz="2800" dirty="0">
                <a:solidFill>
                  <a:srgbClr val="FFFFFF"/>
                </a:solidFill>
                <a:latin typeface="Poppins"/>
              </a:rPr>
              <a:t>براءات الاختراع: آلاف البراءات التي تحمي تصميم وتكنولوجيا أجهزتها وأنظمتها</a:t>
            </a:r>
            <a:endParaRPr lang="en-US" sz="2800" dirty="0">
              <a:solidFill>
                <a:srgbClr val="FFFFFF"/>
              </a:solidFill>
              <a:latin typeface="Poppins"/>
            </a:endParaRPr>
          </a:p>
          <a:p>
            <a:pPr marL="685800" indent="-457200" algn="just" rtl="1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ar-SA" sz="2800" dirty="0">
                <a:solidFill>
                  <a:srgbClr val="FFFFFF"/>
                </a:solidFill>
                <a:latin typeface="Poppins"/>
              </a:rPr>
              <a:t>البرامج: أنظمة التشغيل</a:t>
            </a:r>
            <a:r>
              <a:rPr lang="en-US" sz="2800" dirty="0">
                <a:solidFill>
                  <a:srgbClr val="FFFFFF"/>
                </a:solidFill>
                <a:latin typeface="Poppins"/>
              </a:rPr>
              <a:t> (iOS/macOS) </a:t>
            </a:r>
            <a:r>
              <a:rPr lang="ar-SA" sz="2800" dirty="0">
                <a:solidFill>
                  <a:srgbClr val="FFFFFF"/>
                </a:solidFill>
                <a:latin typeface="Poppins"/>
              </a:rPr>
              <a:t>وبرامج التطبيقات الأساسية</a:t>
            </a:r>
            <a:r>
              <a:rPr lang="en-US" sz="2800" dirty="0">
                <a:solidFill>
                  <a:srgbClr val="FFFFFF"/>
                </a:solidFill>
                <a:latin typeface="Poppins"/>
              </a:rPr>
              <a:t> (Final Cut Pro, Logic Pro)</a:t>
            </a:r>
          </a:p>
          <a:p>
            <a:pPr marL="685800" indent="-457200" algn="just" rtl="1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ar-SA" sz="2800" dirty="0">
                <a:solidFill>
                  <a:srgbClr val="FFFFFF"/>
                </a:solidFill>
                <a:latin typeface="Poppins"/>
              </a:rPr>
              <a:t>الأبحاث والتطوير</a:t>
            </a:r>
            <a:r>
              <a:rPr lang="en-US" sz="2800" dirty="0">
                <a:solidFill>
                  <a:srgbClr val="FFFFFF"/>
                </a:solidFill>
                <a:latin typeface="Poppins"/>
              </a:rPr>
              <a:t> (R&amp;D): </a:t>
            </a:r>
            <a:r>
              <a:rPr lang="ar-SA" sz="2800" dirty="0">
                <a:solidFill>
                  <a:srgbClr val="FFFFFF"/>
                </a:solidFill>
                <a:latin typeface="Poppins"/>
              </a:rPr>
              <a:t>الإنفاق الضخم على تطوير تقنيات المستقبل مثل الذكاء الاصطناعي</a:t>
            </a:r>
            <a:r>
              <a:rPr lang="en-US" sz="2800" dirty="0">
                <a:solidFill>
                  <a:srgbClr val="FFFFFF"/>
                </a:solidFill>
                <a:latin typeface="Poppins"/>
              </a:rPr>
              <a:t> (Siri) </a:t>
            </a:r>
            <a:r>
              <a:rPr lang="ar-SA" sz="2800" dirty="0">
                <a:solidFill>
                  <a:srgbClr val="FFFFFF"/>
                </a:solidFill>
                <a:latin typeface="Poppins"/>
              </a:rPr>
              <a:t>والواقع المعزز</a:t>
            </a:r>
            <a:r>
              <a:rPr lang="en-US" sz="2800" dirty="0">
                <a:solidFill>
                  <a:srgbClr val="FFFFFF"/>
                </a:solidFill>
                <a:latin typeface="Poppins"/>
              </a:rPr>
              <a:t> (AR) </a:t>
            </a:r>
            <a:r>
              <a:rPr lang="ar-SA" sz="2800" dirty="0">
                <a:solidFill>
                  <a:srgbClr val="FFFFFF"/>
                </a:solidFill>
                <a:latin typeface="Poppins"/>
              </a:rPr>
              <a:t>ومنتجات مثل</a:t>
            </a:r>
            <a:r>
              <a:rPr lang="en-US" sz="2800" dirty="0">
                <a:solidFill>
                  <a:srgbClr val="FFFFFF"/>
                </a:solidFill>
                <a:latin typeface="Poppins"/>
              </a:rPr>
              <a:t> (Vision Pro)</a:t>
            </a:r>
          </a:p>
          <a:p>
            <a:pPr algn="just" rtl="1">
              <a:lnSpc>
                <a:spcPct val="150000"/>
              </a:lnSpc>
              <a:spcAft>
                <a:spcPts val="800"/>
              </a:spcAft>
            </a:pPr>
            <a:endParaRPr lang="en-US" sz="2800" dirty="0">
              <a:solidFill>
                <a:srgbClr val="FFFFFF"/>
              </a:solidFill>
              <a:latin typeface="Poppins"/>
            </a:endParaRPr>
          </a:p>
          <a:p>
            <a:pPr marL="457200" indent="-457200" algn="just" rtl="1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endParaRPr lang="en-US" sz="2800" dirty="0">
              <a:solidFill>
                <a:srgbClr val="FFFFFF"/>
              </a:solidFill>
              <a:latin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888895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528517" y="0"/>
            <a:ext cx="6779609" cy="10287000"/>
            <a:chOff x="0" y="0"/>
            <a:chExt cx="1680318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80318" cy="2709333"/>
            </a:xfrm>
            <a:custGeom>
              <a:avLst/>
              <a:gdLst/>
              <a:ahLst/>
              <a:cxnLst/>
              <a:rect l="l" t="t" r="r" b="b"/>
              <a:pathLst>
                <a:path w="1680318" h="2709333">
                  <a:moveTo>
                    <a:pt x="0" y="0"/>
                  </a:moveTo>
                  <a:lnTo>
                    <a:pt x="1680318" y="0"/>
                  </a:lnTo>
                  <a:lnTo>
                    <a:pt x="168031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680318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970541" y="2006345"/>
            <a:ext cx="1601933" cy="6466659"/>
            <a:chOff x="0" y="0"/>
            <a:chExt cx="421908" cy="170315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21908" cy="1703153"/>
            </a:xfrm>
            <a:custGeom>
              <a:avLst/>
              <a:gdLst/>
              <a:ahLst/>
              <a:cxnLst/>
              <a:rect l="l" t="t" r="r" b="b"/>
              <a:pathLst>
                <a:path w="421908" h="1703153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7848600" y="1351097"/>
            <a:ext cx="9716618" cy="7774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YE" sz="4708" b="1" dirty="0">
                <a:solidFill>
                  <a:srgbClr val="FFFFFF"/>
                </a:solidFill>
                <a:latin typeface="League Spartan"/>
              </a:rPr>
              <a:t>ماهي وسائل</a:t>
            </a:r>
            <a:r>
              <a:rPr lang="ar-YE" sz="4800" dirty="0"/>
              <a:t> </a:t>
            </a:r>
            <a:r>
              <a:rPr lang="ar-YE" sz="4708" b="1" dirty="0">
                <a:solidFill>
                  <a:srgbClr val="FFFFFF"/>
                </a:solidFill>
                <a:latin typeface="League Spartan"/>
              </a:rPr>
              <a:t>الدفع؟</a:t>
            </a:r>
            <a:endParaRPr lang="en-US" sz="4708" b="1" dirty="0">
              <a:solidFill>
                <a:srgbClr val="FFFFFF"/>
              </a:solidFill>
              <a:latin typeface="League Spartan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2569284" y="2699933"/>
            <a:ext cx="5392524" cy="54064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YE" sz="4800" dirty="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لم</a:t>
            </a:r>
            <a:r>
              <a:rPr lang="ar-YE" sz="4800" dirty="0"/>
              <a:t> </a:t>
            </a:r>
            <a:r>
              <a:rPr lang="ar-YE" sz="4800" dirty="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تعد</a:t>
            </a:r>
            <a:r>
              <a:rPr lang="ar-YE" sz="4800" dirty="0"/>
              <a:t> </a:t>
            </a:r>
            <a:r>
              <a:rPr lang="en-US" sz="4800" dirty="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Apple </a:t>
            </a:r>
            <a:r>
              <a:rPr lang="ar-YE" sz="4800" dirty="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مجرد شركة أجهزة بل أصبحت لاعباً رئيسياً في قطاع التكنولوجيا المالية (</a:t>
            </a:r>
            <a:r>
              <a:rPr lang="en-US" sz="4800" dirty="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en-US" sz="4800" dirty="0" err="1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FinTec</a:t>
            </a:r>
            <a:r>
              <a:rPr lang="en-US" sz="4800" dirty="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ar-YE" sz="4800" dirty="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من خلال:</a:t>
            </a:r>
            <a:endParaRPr lang="en-US" sz="4800" dirty="0">
              <a:solidFill>
                <a:schemeClr val="bg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pSp>
        <p:nvGrpSpPr>
          <p:cNvPr id="9" name="مجموعة 8">
            <a:extLst>
              <a:ext uri="{FF2B5EF4-FFF2-40B4-BE49-F238E27FC236}">
                <a16:creationId xmlns:a16="http://schemas.microsoft.com/office/drawing/2014/main" id="{2B262C24-7472-44BC-93F6-6CB72380FD03}"/>
              </a:ext>
            </a:extLst>
          </p:cNvPr>
          <p:cNvGrpSpPr/>
          <p:nvPr/>
        </p:nvGrpSpPr>
        <p:grpSpPr>
          <a:xfrm>
            <a:off x="10640583" y="1606753"/>
            <a:ext cx="1868266" cy="1868266"/>
            <a:chOff x="10640583" y="1606753"/>
            <a:chExt cx="1868266" cy="1868266"/>
          </a:xfrm>
        </p:grpSpPr>
        <p:grpSp>
          <p:nvGrpSpPr>
            <p:cNvPr id="6" name="Group 6"/>
            <p:cNvGrpSpPr/>
            <p:nvPr/>
          </p:nvGrpSpPr>
          <p:grpSpPr>
            <a:xfrm>
              <a:off x="10640583" y="1606753"/>
              <a:ext cx="1868266" cy="1868266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10724591" y="1872897"/>
              <a:ext cx="1638836" cy="13359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02"/>
                </a:lnSpc>
              </a:pPr>
              <a:r>
                <a:rPr lang="en-US" sz="7859" dirty="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</a:t>
              </a:r>
            </a:p>
          </p:txBody>
        </p:sp>
      </p:grpSp>
      <p:grpSp>
        <p:nvGrpSpPr>
          <p:cNvPr id="10" name="مجموعة 9">
            <a:extLst>
              <a:ext uri="{FF2B5EF4-FFF2-40B4-BE49-F238E27FC236}">
                <a16:creationId xmlns:a16="http://schemas.microsoft.com/office/drawing/2014/main" id="{58EEEE34-49FA-430C-AD8C-20EF590A169E}"/>
              </a:ext>
            </a:extLst>
          </p:cNvPr>
          <p:cNvGrpSpPr/>
          <p:nvPr/>
        </p:nvGrpSpPr>
        <p:grpSpPr>
          <a:xfrm>
            <a:off x="10640583" y="4210291"/>
            <a:ext cx="1868266" cy="1868266"/>
            <a:chOff x="10640583" y="4210291"/>
            <a:chExt cx="1868266" cy="1868266"/>
          </a:xfrm>
        </p:grpSpPr>
        <p:grpSp>
          <p:nvGrpSpPr>
            <p:cNvPr id="12" name="Group 12"/>
            <p:cNvGrpSpPr/>
            <p:nvPr/>
          </p:nvGrpSpPr>
          <p:grpSpPr>
            <a:xfrm>
              <a:off x="10640583" y="4210291"/>
              <a:ext cx="1868266" cy="1868266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0755298" y="4495485"/>
              <a:ext cx="1638836" cy="13359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02"/>
                </a:lnSpc>
              </a:pPr>
              <a:r>
                <a:rPr lang="en-US" sz="7859" b="1" dirty="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</a:t>
              </a:r>
            </a:p>
          </p:txBody>
        </p:sp>
      </p:grpSp>
      <p:grpSp>
        <p:nvGrpSpPr>
          <p:cNvPr id="11" name="مجموعة 10">
            <a:extLst>
              <a:ext uri="{FF2B5EF4-FFF2-40B4-BE49-F238E27FC236}">
                <a16:creationId xmlns:a16="http://schemas.microsoft.com/office/drawing/2014/main" id="{9F75007C-606F-4955-914F-DBCE3DF60C03}"/>
              </a:ext>
            </a:extLst>
          </p:cNvPr>
          <p:cNvGrpSpPr/>
          <p:nvPr/>
        </p:nvGrpSpPr>
        <p:grpSpPr>
          <a:xfrm>
            <a:off x="10640583" y="6811981"/>
            <a:ext cx="1868266" cy="1868266"/>
            <a:chOff x="10640583" y="6811982"/>
            <a:chExt cx="1868266" cy="1868266"/>
          </a:xfrm>
        </p:grpSpPr>
        <p:grpSp>
          <p:nvGrpSpPr>
            <p:cNvPr id="15" name="Group 15"/>
            <p:cNvGrpSpPr/>
            <p:nvPr/>
          </p:nvGrpSpPr>
          <p:grpSpPr>
            <a:xfrm>
              <a:off x="10640583" y="6811982"/>
              <a:ext cx="1868266" cy="1868266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0755298" y="7097732"/>
              <a:ext cx="1638836" cy="13359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02"/>
                </a:lnSpc>
              </a:pPr>
              <a:r>
                <a:rPr lang="en-US" sz="7859" dirty="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3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063557" y="2330270"/>
            <a:ext cx="7968822" cy="563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r" rtl="1">
              <a:tabLst>
                <a:tab pos="457200" algn="l"/>
              </a:tabLst>
            </a:pPr>
            <a:r>
              <a:rPr lang="en-US" sz="3600" dirty="0">
                <a:latin typeface="Calibri" panose="020F0502020204030204" pitchFamily="34" charset="0"/>
                <a:cs typeface="Times New Roman" panose="02020603050405020304" pitchFamily="18" charset="0"/>
              </a:rPr>
              <a:t>)Apple Pay </a:t>
            </a:r>
            <a:r>
              <a:rPr lang="ar-YE" sz="3600" dirty="0">
                <a:latin typeface="Calibri" panose="020F0502020204030204" pitchFamily="34" charset="0"/>
                <a:cs typeface="Times New Roman" panose="02020603050405020304" pitchFamily="18" charset="0"/>
              </a:rPr>
              <a:t>الدفع </a:t>
            </a:r>
            <a:r>
              <a:rPr lang="ar-YE" sz="36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اللا</a:t>
            </a:r>
            <a:r>
              <a:rPr lang="ar-YE" sz="3600" dirty="0">
                <a:latin typeface="Calibri" panose="020F0502020204030204" pitchFamily="34" charset="0"/>
                <a:cs typeface="Times New Roman" panose="02020603050405020304" pitchFamily="18" charset="0"/>
              </a:rPr>
              <a:t> تلامسي)</a:t>
            </a:r>
            <a:endParaRPr lang="en-US" sz="36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127530" y="5075294"/>
            <a:ext cx="7789432" cy="563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r" rtl="1">
              <a:tabLst>
                <a:tab pos="457200" algn="l"/>
              </a:tabLst>
            </a:pPr>
            <a:r>
              <a:rPr lang="ar-YE" sz="3600" dirty="0">
                <a:latin typeface="Calibri" panose="020F0502020204030204" pitchFamily="34" charset="0"/>
                <a:cs typeface="Times New Roman" panose="02020603050405020304" pitchFamily="18" charset="0"/>
              </a:rPr>
              <a:t>الاشتراكات والخدمات المالية</a:t>
            </a:r>
            <a:endParaRPr lang="en-US" sz="36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655576" y="7344565"/>
            <a:ext cx="8246632" cy="563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r" rtl="1">
              <a:tabLst>
                <a:tab pos="457200" algn="l"/>
              </a:tabLst>
            </a:pPr>
            <a:r>
              <a:rPr lang="ar-YE" sz="3600" dirty="0">
                <a:latin typeface="Calibri" panose="020F0502020204030204" pitchFamily="34" charset="0"/>
                <a:cs typeface="Times New Roman" panose="02020603050405020304" pitchFamily="18" charset="0"/>
              </a:rPr>
              <a:t>خدمات مالية إضافية مثل </a:t>
            </a:r>
            <a:r>
              <a:rPr lang="en-US" sz="3600" dirty="0">
                <a:latin typeface="Calibri" panose="020F0502020204030204" pitchFamily="34" charset="0"/>
                <a:cs typeface="Times New Roman" panose="02020603050405020304" pitchFamily="18" charset="0"/>
              </a:rPr>
              <a:t>(Apple Card)</a:t>
            </a:r>
          </a:p>
        </p:txBody>
      </p:sp>
    </p:spTree>
    <p:extLst>
      <p:ext uri="{BB962C8B-B14F-4D97-AF65-F5344CB8AC3E}">
        <p14:creationId xmlns:p14="http://schemas.microsoft.com/office/powerpoint/2010/main" val="928180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9525000" cy="10287000"/>
            <a:chOff x="0" y="0"/>
            <a:chExt cx="1789026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89026" cy="2709333"/>
            </a:xfrm>
            <a:custGeom>
              <a:avLst/>
              <a:gdLst/>
              <a:ahLst/>
              <a:cxnLst/>
              <a:rect l="l" t="t" r="r" b="b"/>
              <a:pathLst>
                <a:path w="1789026" h="2709333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246833" y="8472903"/>
            <a:ext cx="897167" cy="2183545"/>
            <a:chOff x="0" y="0"/>
            <a:chExt cx="236291" cy="5750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6291" cy="575090"/>
            </a:xfrm>
            <a:custGeom>
              <a:avLst/>
              <a:gdLst/>
              <a:ahLst/>
              <a:cxnLst/>
              <a:rect l="l" t="t" r="r" b="b"/>
              <a:pathLst>
                <a:path w="236291" h="57509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2420600" y="1879447"/>
            <a:ext cx="4857773" cy="6528106"/>
            <a:chOff x="0" y="0"/>
            <a:chExt cx="3663950" cy="4923790"/>
          </a:xfrm>
        </p:grpSpPr>
        <p:sp>
          <p:nvSpPr>
            <p:cNvPr id="10" name="Freeform 10"/>
            <p:cNvSpPr/>
            <p:nvPr/>
          </p:nvSpPr>
          <p:spPr>
            <a:xfrm>
              <a:off x="31750" y="31750"/>
              <a:ext cx="3600450" cy="4859020"/>
            </a:xfrm>
            <a:custGeom>
              <a:avLst/>
              <a:gdLst/>
              <a:ahLst/>
              <a:cxnLst/>
              <a:rect l="l" t="t" r="r" b="b"/>
              <a:pathLst>
                <a:path w="3600450" h="485902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3"/>
              <a:stretch>
                <a:fillRect l="-39970" r="-39970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3663950" cy="4923790"/>
            </a:xfrm>
            <a:custGeom>
              <a:avLst/>
              <a:gdLst/>
              <a:ahLst/>
              <a:cxnLst/>
              <a:rect l="l" t="t" r="r" b="b"/>
              <a:pathLst>
                <a:path w="3663950" h="492379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715570" y="1814097"/>
            <a:ext cx="8404617" cy="16174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6372"/>
              </a:lnSpc>
            </a:pPr>
            <a:r>
              <a:rPr lang="ar-YE" sz="4708" b="1" dirty="0">
                <a:solidFill>
                  <a:srgbClr val="FFFFFF"/>
                </a:solidFill>
                <a:latin typeface="League Spartan"/>
              </a:rPr>
              <a:t>أولاً :</a:t>
            </a:r>
            <a:r>
              <a:rPr lang="en-US" sz="4708" b="1" dirty="0">
                <a:solidFill>
                  <a:srgbClr val="FFFFFF"/>
                </a:solidFill>
                <a:latin typeface="League Spartan"/>
              </a:rPr>
              <a:t>)Apple Pay </a:t>
            </a:r>
            <a:r>
              <a:rPr lang="ar-YE" sz="4708" b="1" dirty="0">
                <a:solidFill>
                  <a:srgbClr val="FFFFFF"/>
                </a:solidFill>
                <a:latin typeface="League Spartan"/>
              </a:rPr>
              <a:t>الدفع </a:t>
            </a:r>
            <a:r>
              <a:rPr lang="ar-YE" sz="4708" b="1" dirty="0" err="1">
                <a:solidFill>
                  <a:srgbClr val="FFFFFF"/>
                </a:solidFill>
                <a:latin typeface="League Spartan"/>
              </a:rPr>
              <a:t>اللا</a:t>
            </a:r>
            <a:r>
              <a:rPr lang="ar-YE" sz="4708" b="1" dirty="0">
                <a:solidFill>
                  <a:srgbClr val="FFFFFF"/>
                </a:solidFill>
                <a:latin typeface="League Spartan"/>
              </a:rPr>
              <a:t> تلامسي)</a:t>
            </a:r>
            <a:br>
              <a:rPr lang="ar-YE" sz="4708" b="1" dirty="0">
                <a:solidFill>
                  <a:srgbClr val="FFFFFF"/>
                </a:solidFill>
                <a:latin typeface="League Spartan"/>
              </a:rPr>
            </a:br>
            <a:endParaRPr lang="en-US" sz="4708" b="1" dirty="0">
              <a:solidFill>
                <a:srgbClr val="FFFFFF"/>
              </a:solidFill>
              <a:latin typeface="League Spartan"/>
              <a:sym typeface="Roboto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63198" y="3162300"/>
            <a:ext cx="8404617" cy="72537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2800" dirty="0">
                <a:solidFill>
                  <a:srgbClr val="FFFFFF"/>
                </a:solidFill>
                <a:latin typeface="Poppins"/>
              </a:rPr>
              <a:t>آلية</a:t>
            </a:r>
            <a:r>
              <a:rPr lang="ar-SA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ar-SA" sz="2800" dirty="0">
                <a:solidFill>
                  <a:srgbClr val="FFFFFF"/>
                </a:solidFill>
                <a:latin typeface="Poppins"/>
              </a:rPr>
              <a:t>العمل</a:t>
            </a:r>
            <a:r>
              <a:rPr lang="en-US" sz="2800" dirty="0">
                <a:solidFill>
                  <a:srgbClr val="FFFFFF"/>
                </a:solidFill>
                <a:latin typeface="Poppins"/>
              </a:rPr>
              <a:t>:</a:t>
            </a:r>
          </a:p>
          <a:p>
            <a:pPr marL="457200" lvl="0" indent="-457200" algn="r" rtl="1">
              <a:lnSpc>
                <a:spcPct val="150000"/>
              </a:lnSpc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ar-SA" sz="2800" dirty="0">
                <a:solidFill>
                  <a:srgbClr val="FFFFFF"/>
                </a:solidFill>
                <a:latin typeface="Poppins"/>
              </a:rPr>
              <a:t>التشفير والأمان: لا يتم تخزين أرقام بطاقات الائتمان على الجهاز أو خوادم</a:t>
            </a:r>
            <a:r>
              <a:rPr lang="en-US" sz="2800" dirty="0">
                <a:solidFill>
                  <a:srgbClr val="FFFFFF"/>
                </a:solidFill>
                <a:latin typeface="Poppins"/>
              </a:rPr>
              <a:t> Apple</a:t>
            </a:r>
            <a:r>
              <a:rPr lang="ar-SA" sz="2800" dirty="0">
                <a:solidFill>
                  <a:srgbClr val="FFFFFF"/>
                </a:solidFill>
                <a:latin typeface="Poppins"/>
              </a:rPr>
              <a:t>، بل يتم استخدام رقم حساب جهاز خاص مشفر</a:t>
            </a:r>
            <a:r>
              <a:rPr lang="en-US" sz="2800" dirty="0">
                <a:solidFill>
                  <a:srgbClr val="FFFFFF"/>
                </a:solidFill>
                <a:latin typeface="Poppins"/>
              </a:rPr>
              <a:t> (Tokenization)</a:t>
            </a:r>
          </a:p>
          <a:p>
            <a:pPr marL="457200" lvl="0" indent="-457200" algn="r" rtl="1">
              <a:lnSpc>
                <a:spcPct val="150000"/>
              </a:lnSpc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ar-SA" sz="2800" dirty="0">
                <a:solidFill>
                  <a:srgbClr val="FFFFFF"/>
                </a:solidFill>
                <a:latin typeface="Poppins"/>
              </a:rPr>
              <a:t>سهولة الاستخدام: الدفع يتم بسرعة وأمان عبر تقنية</a:t>
            </a:r>
            <a:r>
              <a:rPr lang="en-US" sz="2800" dirty="0">
                <a:solidFill>
                  <a:srgbClr val="FFFFFF"/>
                </a:solidFill>
                <a:latin typeface="Poppins"/>
              </a:rPr>
              <a:t> NFC </a:t>
            </a:r>
            <a:r>
              <a:rPr lang="ar-SA" sz="2800" dirty="0">
                <a:solidFill>
                  <a:srgbClr val="FFFFFF"/>
                </a:solidFill>
                <a:latin typeface="Poppins"/>
              </a:rPr>
              <a:t>في المتاجر أو عبر الإنترنت وفي التطبيقات</a:t>
            </a:r>
            <a:endParaRPr lang="en-US" sz="2800" dirty="0">
              <a:solidFill>
                <a:srgbClr val="FFFFFF"/>
              </a:solidFill>
              <a:latin typeface="Poppins"/>
            </a:endParaRPr>
          </a:p>
          <a:p>
            <a:pPr marL="457200" lvl="0" indent="-457200" algn="r" rtl="1">
              <a:lnSpc>
                <a:spcPct val="150000"/>
              </a:lnSpc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ar-SA" sz="2800" dirty="0">
                <a:solidFill>
                  <a:srgbClr val="FFFFFF"/>
                </a:solidFill>
                <a:latin typeface="Poppins"/>
              </a:rPr>
              <a:t>التوافق: مدمج في</a:t>
            </a:r>
            <a:r>
              <a:rPr lang="en-US" sz="2800" dirty="0">
                <a:solidFill>
                  <a:srgbClr val="FFFFFF"/>
                </a:solidFill>
                <a:latin typeface="Poppins"/>
              </a:rPr>
              <a:t> iPhone </a:t>
            </a:r>
            <a:r>
              <a:rPr lang="ar-SA" sz="2800" dirty="0">
                <a:solidFill>
                  <a:srgbClr val="FFFFFF"/>
                </a:solidFill>
                <a:latin typeface="Poppins"/>
              </a:rPr>
              <a:t>و</a:t>
            </a:r>
            <a:r>
              <a:rPr lang="en-US" sz="2800" dirty="0">
                <a:solidFill>
                  <a:srgbClr val="FFFFFF"/>
                </a:solidFill>
                <a:latin typeface="Poppins"/>
              </a:rPr>
              <a:t> Apple Watch</a:t>
            </a:r>
            <a:r>
              <a:rPr lang="ar-SA" sz="2800" dirty="0">
                <a:solidFill>
                  <a:srgbClr val="FFFFFF"/>
                </a:solidFill>
                <a:latin typeface="Poppins"/>
              </a:rPr>
              <a:t>، مما يجعله وسيلة دفع أساسية للملايين حول العالم</a:t>
            </a:r>
            <a:endParaRPr lang="en-US" sz="2800" dirty="0">
              <a:solidFill>
                <a:srgbClr val="FFFFFF"/>
              </a:solidFill>
              <a:latin typeface="Poppins"/>
            </a:endParaRP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lang="en-US" sz="2800" dirty="0">
                <a:solidFill>
                  <a:srgbClr val="FFFFFF"/>
                </a:solidFill>
                <a:latin typeface="Poppins"/>
              </a:rPr>
              <a:t> </a:t>
            </a:r>
          </a:p>
          <a:p>
            <a:pPr algn="just" rtl="1">
              <a:lnSpc>
                <a:spcPct val="150000"/>
              </a:lnSpc>
              <a:spcAft>
                <a:spcPts val="800"/>
              </a:spcAft>
            </a:pPr>
            <a:endParaRPr lang="en-US" sz="2800" dirty="0">
              <a:solidFill>
                <a:srgbClr val="FFFFFF"/>
              </a:solidFill>
              <a:latin typeface="Poppins"/>
            </a:endParaRPr>
          </a:p>
          <a:p>
            <a:pPr marL="457200" indent="-457200" algn="just" rtl="1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endParaRPr lang="en-US" sz="2800" dirty="0">
              <a:solidFill>
                <a:srgbClr val="FFFFFF"/>
              </a:solidFill>
              <a:latin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601816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9525000" cy="10287000"/>
            <a:chOff x="0" y="0"/>
            <a:chExt cx="1789026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89026" cy="2709333"/>
            </a:xfrm>
            <a:custGeom>
              <a:avLst/>
              <a:gdLst/>
              <a:ahLst/>
              <a:cxnLst/>
              <a:rect l="l" t="t" r="r" b="b"/>
              <a:pathLst>
                <a:path w="1789026" h="2709333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246833" y="8572500"/>
            <a:ext cx="897167" cy="2183545"/>
            <a:chOff x="0" y="0"/>
            <a:chExt cx="236291" cy="5750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6291" cy="575090"/>
            </a:xfrm>
            <a:custGeom>
              <a:avLst/>
              <a:gdLst/>
              <a:ahLst/>
              <a:cxnLst/>
              <a:rect l="l" t="t" r="r" b="b"/>
              <a:pathLst>
                <a:path w="236291" h="57509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981200" y="1814097"/>
            <a:ext cx="7138987" cy="24381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6372"/>
              </a:lnSpc>
            </a:pPr>
            <a:r>
              <a:rPr lang="ar-YE" sz="4708" b="1" dirty="0">
                <a:solidFill>
                  <a:srgbClr val="FFFFFF"/>
                </a:solidFill>
                <a:latin typeface="League Spartan"/>
              </a:rPr>
              <a:t>ثانياً : الاشتراكات والخدمات المالية</a:t>
            </a:r>
            <a:endParaRPr lang="en-US" sz="4708" b="1" dirty="0">
              <a:solidFill>
                <a:srgbClr val="FFFFFF"/>
              </a:solidFill>
              <a:latin typeface="League Spartan"/>
            </a:endParaRPr>
          </a:p>
          <a:p>
            <a:pPr algn="r" rtl="1">
              <a:lnSpc>
                <a:spcPts val="6372"/>
              </a:lnSpc>
            </a:pPr>
            <a:r>
              <a:rPr lang="ar-YE" sz="4800" dirty="0"/>
              <a:t/>
            </a:r>
            <a:br>
              <a:rPr lang="ar-YE" sz="4800" dirty="0"/>
            </a:br>
            <a:endParaRPr lang="en-US" sz="4708" b="1" dirty="0">
              <a:solidFill>
                <a:srgbClr val="FFFFFF"/>
              </a:solidFill>
              <a:latin typeface="League Spartan"/>
              <a:sym typeface="Roboto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63198" y="3162300"/>
            <a:ext cx="8404617" cy="69152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lang="ar-YE" sz="2800" dirty="0">
                <a:solidFill>
                  <a:srgbClr val="FFFFFF"/>
                </a:solidFill>
                <a:latin typeface="Poppins"/>
              </a:rPr>
              <a:t>نموذج الإيرادات المتكررة:</a:t>
            </a:r>
            <a:endParaRPr lang="en-US" sz="2800" dirty="0">
              <a:solidFill>
                <a:srgbClr val="FFFFFF"/>
              </a:solidFill>
              <a:latin typeface="Poppins"/>
            </a:endParaRPr>
          </a:p>
          <a:p>
            <a:pPr marL="685800" indent="-457200" algn="r" rtl="1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FFFFFF"/>
                </a:solidFill>
                <a:latin typeface="Poppins"/>
              </a:rPr>
              <a:t>: App Store &amp; Media Subscriptions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ar-SA" sz="2800" dirty="0">
                <a:solidFill>
                  <a:srgbClr val="FFFFFF"/>
                </a:solidFill>
                <a:latin typeface="Poppins"/>
              </a:rPr>
              <a:t>الإيرادات الناتجة عن عمليات الشراء داخل التطبيقات واشتراكات الخدمات</a:t>
            </a:r>
            <a:r>
              <a:rPr lang="en-US" sz="2800" dirty="0">
                <a:solidFill>
                  <a:srgbClr val="FFFFFF"/>
                </a:solidFill>
                <a:latin typeface="Poppins"/>
              </a:rPr>
              <a:t> (Apple Music, Apple TV+, Apple Arcade)</a:t>
            </a:r>
          </a:p>
          <a:p>
            <a:pPr marL="685800" indent="-457200" algn="r" rtl="1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FFFFFF"/>
                </a:solidFill>
                <a:latin typeface="Poppins"/>
              </a:rPr>
              <a:t>: Apple One </a:t>
            </a:r>
            <a:r>
              <a:rPr lang="ar-SA" sz="2800" dirty="0">
                <a:solidFill>
                  <a:srgbClr val="FFFFFF"/>
                </a:solidFill>
                <a:latin typeface="Poppins"/>
              </a:rPr>
              <a:t>حزمة اشتراكات موحدة تزيد من ولاء المستخدم</a:t>
            </a:r>
            <a:endParaRPr lang="en-US" sz="2800" dirty="0">
              <a:solidFill>
                <a:srgbClr val="FFFFFF"/>
              </a:solidFill>
              <a:latin typeface="Poppins"/>
            </a:endParaRPr>
          </a:p>
          <a:p>
            <a:pPr marL="685800" indent="-457200" algn="r" rtl="1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ar-SA" sz="2800" dirty="0">
                <a:solidFill>
                  <a:srgbClr val="FFFFFF"/>
                </a:solidFill>
                <a:latin typeface="Poppins"/>
              </a:rPr>
              <a:t>خدمات مالية أخرى: مثل</a:t>
            </a:r>
            <a:r>
              <a:rPr lang="en-US" sz="2800" dirty="0">
                <a:solidFill>
                  <a:srgbClr val="FFFFFF"/>
                </a:solidFill>
                <a:latin typeface="Poppins"/>
              </a:rPr>
              <a:t> Apple Card )</a:t>
            </a:r>
            <a:r>
              <a:rPr lang="ar-SA" sz="2800" dirty="0">
                <a:solidFill>
                  <a:srgbClr val="FFFFFF"/>
                </a:solidFill>
                <a:latin typeface="Poppins"/>
              </a:rPr>
              <a:t>بطاقة ائتمان) و</a:t>
            </a:r>
            <a:r>
              <a:rPr lang="en-US" sz="2800" dirty="0">
                <a:solidFill>
                  <a:srgbClr val="FFFFFF"/>
                </a:solidFill>
                <a:latin typeface="Poppins"/>
              </a:rPr>
              <a:t> Apple Cash )</a:t>
            </a:r>
            <a:r>
              <a:rPr lang="ar-SA" sz="2800" dirty="0">
                <a:solidFill>
                  <a:srgbClr val="FFFFFF"/>
                </a:solidFill>
                <a:latin typeface="Poppins"/>
              </a:rPr>
              <a:t>نظام دفع نظير إلى نظير)، مما يعزز نظامها البيئي المالي</a:t>
            </a:r>
            <a:endParaRPr lang="en-US" sz="2800" dirty="0">
              <a:solidFill>
                <a:srgbClr val="FFFFFF"/>
              </a:solidFill>
              <a:latin typeface="Poppins"/>
            </a:endParaRP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lang="en-US" sz="2800" dirty="0">
                <a:solidFill>
                  <a:srgbClr val="FFFFFF"/>
                </a:solidFill>
                <a:latin typeface="Poppins"/>
              </a:rPr>
              <a:t> </a:t>
            </a:r>
          </a:p>
          <a:p>
            <a:pPr marL="457200" indent="-457200" algn="just" rtl="1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endParaRPr lang="en-US" sz="2800" dirty="0">
              <a:solidFill>
                <a:srgbClr val="FFFFFF"/>
              </a:solidFill>
              <a:latin typeface="Poppins"/>
            </a:endParaRPr>
          </a:p>
        </p:txBody>
      </p:sp>
      <p:grpSp>
        <p:nvGrpSpPr>
          <p:cNvPr id="15" name="Group 6">
            <a:extLst>
              <a:ext uri="{FF2B5EF4-FFF2-40B4-BE49-F238E27FC236}">
                <a16:creationId xmlns:a16="http://schemas.microsoft.com/office/drawing/2014/main" id="{B4C87F85-8ECE-41F0-94A6-BBBEE0301F43}"/>
              </a:ext>
            </a:extLst>
          </p:cNvPr>
          <p:cNvGrpSpPr>
            <a:grpSpLocks noChangeAspect="1"/>
          </p:cNvGrpSpPr>
          <p:nvPr/>
        </p:nvGrpSpPr>
        <p:grpSpPr>
          <a:xfrm>
            <a:off x="12344400" y="1774507"/>
            <a:ext cx="5013951" cy="6737985"/>
            <a:chOff x="0" y="0"/>
            <a:chExt cx="3663950" cy="4923790"/>
          </a:xfrm>
        </p:grpSpPr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1131E71D-E81C-4CC6-8704-85C48DE639E9}"/>
                </a:ext>
              </a:extLst>
            </p:cNvPr>
            <p:cNvSpPr/>
            <p:nvPr/>
          </p:nvSpPr>
          <p:spPr>
            <a:xfrm>
              <a:off x="31750" y="31750"/>
              <a:ext cx="3600450" cy="4859020"/>
            </a:xfrm>
            <a:custGeom>
              <a:avLst/>
              <a:gdLst/>
              <a:ahLst/>
              <a:cxnLst/>
              <a:rect l="l" t="t" r="r" b="b"/>
              <a:pathLst>
                <a:path w="3600450" h="485902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3"/>
              <a:stretch>
                <a:fillRect r="-102370"/>
              </a:stretch>
            </a:blipFill>
          </p:spPr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5C4037FE-F144-464E-9FF2-5B271D1347D3}"/>
                </a:ext>
              </a:extLst>
            </p:cNvPr>
            <p:cNvSpPr/>
            <p:nvPr/>
          </p:nvSpPr>
          <p:spPr>
            <a:xfrm>
              <a:off x="0" y="0"/>
              <a:ext cx="3663950" cy="4923790"/>
            </a:xfrm>
            <a:custGeom>
              <a:avLst/>
              <a:gdLst/>
              <a:ahLst/>
              <a:cxnLst/>
              <a:rect l="l" t="t" r="r" b="b"/>
              <a:pathLst>
                <a:path w="3663950" h="492379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</p:spTree>
    <p:extLst>
      <p:ext uri="{BB962C8B-B14F-4D97-AF65-F5344CB8AC3E}">
        <p14:creationId xmlns:p14="http://schemas.microsoft.com/office/powerpoint/2010/main" val="959210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523255" y="0"/>
            <a:ext cx="6779609" cy="10287000"/>
            <a:chOff x="0" y="0"/>
            <a:chExt cx="1680318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80318" cy="2709333"/>
            </a:xfrm>
            <a:custGeom>
              <a:avLst/>
              <a:gdLst/>
              <a:ahLst/>
              <a:cxnLst/>
              <a:rect l="l" t="t" r="r" b="b"/>
              <a:pathLst>
                <a:path w="1680318" h="2709333">
                  <a:moveTo>
                    <a:pt x="0" y="0"/>
                  </a:moveTo>
                  <a:lnTo>
                    <a:pt x="1680318" y="0"/>
                  </a:lnTo>
                  <a:lnTo>
                    <a:pt x="168031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680318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970541" y="2006345"/>
            <a:ext cx="1601933" cy="6466659"/>
            <a:chOff x="0" y="0"/>
            <a:chExt cx="421908" cy="170315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21908" cy="1703153"/>
            </a:xfrm>
            <a:custGeom>
              <a:avLst/>
              <a:gdLst/>
              <a:ahLst/>
              <a:cxnLst/>
              <a:rect l="l" t="t" r="r" b="b"/>
              <a:pathLst>
                <a:path w="421908" h="1703153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8207090" y="1333836"/>
            <a:ext cx="9716618" cy="7774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YE" sz="4708" b="1" dirty="0">
                <a:solidFill>
                  <a:srgbClr val="FFFFFF"/>
                </a:solidFill>
                <a:latin typeface="League Spartan"/>
              </a:rPr>
              <a:t>ما</a:t>
            </a:r>
            <a:r>
              <a:rPr lang="ar-YE" sz="4800" dirty="0"/>
              <a:t> </a:t>
            </a:r>
            <a:r>
              <a:rPr lang="ar-YE" sz="4708" b="1" dirty="0">
                <a:solidFill>
                  <a:srgbClr val="FFFFFF"/>
                </a:solidFill>
                <a:latin typeface="League Spartan"/>
              </a:rPr>
              <a:t>تقدمه</a:t>
            </a:r>
            <a:r>
              <a:rPr lang="en-US" sz="4800" dirty="0"/>
              <a:t> </a:t>
            </a:r>
            <a:r>
              <a:rPr lang="en-US" sz="4708" b="1" dirty="0">
                <a:solidFill>
                  <a:srgbClr val="FFFFFF"/>
                </a:solidFill>
                <a:latin typeface="League Spartan"/>
              </a:rPr>
              <a:t>Apple</a:t>
            </a:r>
            <a:r>
              <a:rPr lang="en-US" sz="4800" dirty="0"/>
              <a:t> </a:t>
            </a:r>
            <a:r>
              <a:rPr lang="ar-YE" sz="4708" b="1" dirty="0">
                <a:solidFill>
                  <a:srgbClr val="FFFFFF"/>
                </a:solidFill>
                <a:latin typeface="League Spartan"/>
              </a:rPr>
              <a:t>للعالم</a:t>
            </a:r>
            <a:r>
              <a:rPr lang="en-US" sz="4708" b="1" dirty="0">
                <a:solidFill>
                  <a:srgbClr val="FFFFFF"/>
                </a:solidFill>
                <a:latin typeface="League Spartan"/>
              </a:rPr>
              <a:t> </a:t>
            </a:r>
            <a:r>
              <a:rPr lang="ar-YE" sz="4708" b="1" dirty="0">
                <a:solidFill>
                  <a:srgbClr val="FFFFFF"/>
                </a:solidFill>
                <a:latin typeface="League Spartan"/>
              </a:rPr>
              <a:t>؟</a:t>
            </a:r>
            <a:endParaRPr lang="en-US" sz="4708" b="1" dirty="0">
              <a:solidFill>
                <a:srgbClr val="FFFFFF"/>
              </a:solidFill>
              <a:latin typeface="League Spartan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2569284" y="2699933"/>
            <a:ext cx="5392524" cy="54064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YE" sz="4800" dirty="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مخرجات</a:t>
            </a:r>
            <a:r>
              <a:rPr lang="en-US" sz="4800" dirty="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         :Apple </a:t>
            </a:r>
            <a:r>
              <a:rPr lang="ar-YE" sz="4800" dirty="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هي منتجاتها وخدماتها النهائية التي تصل إلى المستهلكين. تُقسم إلى مجالين رئيسيين:</a:t>
            </a:r>
            <a:endParaRPr lang="en-US" sz="4800" dirty="0">
              <a:solidFill>
                <a:schemeClr val="bg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pSp>
        <p:nvGrpSpPr>
          <p:cNvPr id="9" name="مجموعة 8">
            <a:extLst>
              <a:ext uri="{FF2B5EF4-FFF2-40B4-BE49-F238E27FC236}">
                <a16:creationId xmlns:a16="http://schemas.microsoft.com/office/drawing/2014/main" id="{7AD627B2-D784-4338-97DC-FDC1C2E9F34E}"/>
              </a:ext>
            </a:extLst>
          </p:cNvPr>
          <p:cNvGrpSpPr/>
          <p:nvPr/>
        </p:nvGrpSpPr>
        <p:grpSpPr>
          <a:xfrm>
            <a:off x="10640583" y="1606753"/>
            <a:ext cx="1868266" cy="1868266"/>
            <a:chOff x="10640583" y="1606753"/>
            <a:chExt cx="1868266" cy="1868266"/>
          </a:xfrm>
        </p:grpSpPr>
        <p:grpSp>
          <p:nvGrpSpPr>
            <p:cNvPr id="6" name="Group 6"/>
            <p:cNvGrpSpPr/>
            <p:nvPr/>
          </p:nvGrpSpPr>
          <p:grpSpPr>
            <a:xfrm>
              <a:off x="10640583" y="1606753"/>
              <a:ext cx="1868266" cy="1868266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10724591" y="1872897"/>
              <a:ext cx="1638836" cy="13359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02"/>
                </a:lnSpc>
              </a:pPr>
              <a:r>
                <a:rPr lang="en-US" sz="7859" dirty="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</a:t>
              </a:r>
            </a:p>
          </p:txBody>
        </p:sp>
      </p:grpSp>
      <p:grpSp>
        <p:nvGrpSpPr>
          <p:cNvPr id="10" name="مجموعة 9">
            <a:extLst>
              <a:ext uri="{FF2B5EF4-FFF2-40B4-BE49-F238E27FC236}">
                <a16:creationId xmlns:a16="http://schemas.microsoft.com/office/drawing/2014/main" id="{534551E9-29FC-4511-BC0D-B405EF5287FB}"/>
              </a:ext>
            </a:extLst>
          </p:cNvPr>
          <p:cNvGrpSpPr/>
          <p:nvPr/>
        </p:nvGrpSpPr>
        <p:grpSpPr>
          <a:xfrm>
            <a:off x="10640583" y="6811981"/>
            <a:ext cx="1868266" cy="1868266"/>
            <a:chOff x="10640583" y="6811981"/>
            <a:chExt cx="1868266" cy="1868266"/>
          </a:xfrm>
        </p:grpSpPr>
        <p:grpSp>
          <p:nvGrpSpPr>
            <p:cNvPr id="15" name="Group 15"/>
            <p:cNvGrpSpPr/>
            <p:nvPr/>
          </p:nvGrpSpPr>
          <p:grpSpPr>
            <a:xfrm>
              <a:off x="10640583" y="6811981"/>
              <a:ext cx="1868266" cy="1868266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5E5E5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0755298" y="7125840"/>
              <a:ext cx="1638836" cy="13359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02"/>
                </a:lnSpc>
              </a:pPr>
              <a:r>
                <a:rPr lang="en-US" sz="7859" b="1" dirty="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658530" y="2499053"/>
            <a:ext cx="11002920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tabLst>
                <a:tab pos="457200" algn="l"/>
              </a:tabLst>
            </a:pPr>
            <a:r>
              <a:rPr lang="en-US" sz="3600" dirty="0"/>
              <a:t> </a:t>
            </a:r>
            <a:r>
              <a:rPr lang="en-US" sz="3600" dirty="0">
                <a:latin typeface="Calibri" panose="020F0502020204030204" pitchFamily="34" charset="0"/>
                <a:cs typeface="Times New Roman" panose="02020603050405020304" pitchFamily="18" charset="0"/>
              </a:rPr>
              <a:t>(iPhone, Mac, iPad, Apple Watch) :(Hardware) </a:t>
            </a:r>
            <a:r>
              <a:rPr lang="ar-YE" sz="3600" dirty="0">
                <a:latin typeface="Calibri" panose="020F0502020204030204" pitchFamily="34" charset="0"/>
                <a:cs typeface="Times New Roman" panose="02020603050405020304" pitchFamily="18" charset="0"/>
              </a:rPr>
              <a:t>الأجهزة</a:t>
            </a:r>
            <a:endParaRPr lang="en-US" sz="36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90599" y="7663647"/>
            <a:ext cx="9895129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ctr" rtl="1">
              <a:tabLst>
                <a:tab pos="457200" algn="l"/>
              </a:tabLst>
            </a:pPr>
            <a:r>
              <a:rPr lang="ar-YE" sz="3600" dirty="0">
                <a:latin typeface="Calibri" panose="020F0502020204030204" pitchFamily="34" charset="0"/>
                <a:cs typeface="Times New Roman" panose="02020603050405020304" pitchFamily="18" charset="0"/>
              </a:rPr>
              <a:t>الخدمات</a:t>
            </a:r>
            <a:r>
              <a:rPr lang="en-US" sz="3600" dirty="0">
                <a:latin typeface="Calibri" panose="020F0502020204030204" pitchFamily="34" charset="0"/>
                <a:cs typeface="Times New Roman" panose="02020603050405020304" pitchFamily="18" charset="0"/>
              </a:rPr>
              <a:t>:(Services)</a:t>
            </a:r>
            <a:r>
              <a:rPr lang="ar-YE" sz="3600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Calibri" panose="020F0502020204030204" pitchFamily="34" charset="0"/>
                <a:cs typeface="Times New Roman" panose="02020603050405020304" pitchFamily="18" charset="0"/>
              </a:rPr>
              <a:t>(App Store, iCloud, Apple Music Apple Pay)</a:t>
            </a:r>
          </a:p>
        </p:txBody>
      </p:sp>
    </p:spTree>
    <p:extLst>
      <p:ext uri="{BB962C8B-B14F-4D97-AF65-F5344CB8AC3E}">
        <p14:creationId xmlns:p14="http://schemas.microsoft.com/office/powerpoint/2010/main" val="3041646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9525000" cy="10287000"/>
            <a:chOff x="0" y="0"/>
            <a:chExt cx="1789026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89026" cy="2709333"/>
            </a:xfrm>
            <a:custGeom>
              <a:avLst/>
              <a:gdLst/>
              <a:ahLst/>
              <a:cxnLst/>
              <a:rect l="l" t="t" r="r" b="b"/>
              <a:pathLst>
                <a:path w="1789026" h="2709333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246833" y="8472903"/>
            <a:ext cx="897167" cy="2183545"/>
            <a:chOff x="0" y="0"/>
            <a:chExt cx="236291" cy="5750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6291" cy="575090"/>
            </a:xfrm>
            <a:custGeom>
              <a:avLst/>
              <a:gdLst/>
              <a:ahLst/>
              <a:cxnLst/>
              <a:rect l="l" t="t" r="r" b="b"/>
              <a:pathLst>
                <a:path w="236291" h="57509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2420600" y="1879447"/>
            <a:ext cx="4857773" cy="6528106"/>
            <a:chOff x="0" y="0"/>
            <a:chExt cx="3663950" cy="4923790"/>
          </a:xfrm>
        </p:grpSpPr>
        <p:sp>
          <p:nvSpPr>
            <p:cNvPr id="10" name="Freeform 10"/>
            <p:cNvSpPr/>
            <p:nvPr/>
          </p:nvSpPr>
          <p:spPr>
            <a:xfrm>
              <a:off x="31750" y="31750"/>
              <a:ext cx="3600450" cy="4859020"/>
            </a:xfrm>
            <a:custGeom>
              <a:avLst/>
              <a:gdLst/>
              <a:ahLst/>
              <a:cxnLst/>
              <a:rect l="l" t="t" r="r" b="b"/>
              <a:pathLst>
                <a:path w="3600450" h="485902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3"/>
              <a:stretch>
                <a:fillRect l="-39970" r="-39970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3663950" cy="4923790"/>
            </a:xfrm>
            <a:custGeom>
              <a:avLst/>
              <a:gdLst/>
              <a:ahLst/>
              <a:cxnLst/>
              <a:rect l="l" t="t" r="r" b="b"/>
              <a:pathLst>
                <a:path w="3663950" h="492379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52400" y="1814097"/>
            <a:ext cx="8967787" cy="25103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YE" sz="4708" b="1" dirty="0">
                <a:solidFill>
                  <a:srgbClr val="FFFFFF"/>
                </a:solidFill>
                <a:latin typeface="League Spartan"/>
              </a:rPr>
              <a:t>ثانياً : </a:t>
            </a:r>
            <a:r>
              <a:rPr lang="ar-SA" sz="4708" b="1" dirty="0">
                <a:solidFill>
                  <a:srgbClr val="FFFFFF"/>
                </a:solidFill>
                <a:latin typeface="League Spartan"/>
              </a:rPr>
              <a:t>المنتجات</a:t>
            </a:r>
            <a:r>
              <a:rPr lang="ar-SA" sz="4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SA" sz="4708" b="1" dirty="0">
                <a:solidFill>
                  <a:srgbClr val="FFFFFF"/>
                </a:solidFill>
                <a:latin typeface="League Spartan"/>
              </a:rPr>
              <a:t>الرئيسية</a:t>
            </a:r>
            <a:r>
              <a:rPr lang="en-US" sz="4708" b="1" dirty="0">
                <a:solidFill>
                  <a:srgbClr val="FFFFFF"/>
                </a:solidFill>
                <a:latin typeface="League Spartan"/>
              </a:rPr>
              <a:t> (Ecosystem)</a:t>
            </a:r>
          </a:p>
          <a:p>
            <a:pPr algn="r" rtl="1">
              <a:lnSpc>
                <a:spcPts val="6372"/>
              </a:lnSpc>
            </a:pPr>
            <a:r>
              <a:rPr lang="ar-YE" sz="4800" dirty="0"/>
              <a:t/>
            </a:r>
            <a:br>
              <a:rPr lang="ar-YE" sz="4800" dirty="0"/>
            </a:br>
            <a:endParaRPr lang="en-US" sz="4708" b="1" dirty="0">
              <a:solidFill>
                <a:srgbClr val="FFFFFF"/>
              </a:solidFill>
              <a:latin typeface="League Spartan"/>
              <a:sym typeface="Roboto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06289" y="2709955"/>
            <a:ext cx="8660008" cy="72537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lang="ar-SA" sz="2800" dirty="0">
                <a:solidFill>
                  <a:srgbClr val="FFFFFF"/>
                </a:solidFill>
                <a:latin typeface="Poppins"/>
              </a:rPr>
              <a:t>المنتجات الأكثر تأثيراً</a:t>
            </a:r>
            <a:r>
              <a:rPr lang="en-US" sz="2800" dirty="0">
                <a:solidFill>
                  <a:srgbClr val="FFFFFF"/>
                </a:solidFill>
                <a:latin typeface="Poppins"/>
              </a:rPr>
              <a:t>:</a:t>
            </a:r>
          </a:p>
          <a:p>
            <a:pPr marL="457200" lvl="0" indent="-457200" algn="r" rtl="1">
              <a:lnSpc>
                <a:spcPct val="150000"/>
              </a:lnSpc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sz="2800" dirty="0">
                <a:solidFill>
                  <a:srgbClr val="FFFFFF"/>
                </a:solidFill>
                <a:latin typeface="Poppins"/>
              </a:rPr>
              <a:t> :iPhone </a:t>
            </a:r>
            <a:r>
              <a:rPr lang="ar-SA" sz="2800" dirty="0">
                <a:solidFill>
                  <a:srgbClr val="FFFFFF"/>
                </a:solidFill>
                <a:latin typeface="Poppins"/>
              </a:rPr>
              <a:t>العمود الفقري لإيرادات</a:t>
            </a:r>
            <a:r>
              <a:rPr lang="en-US" sz="2800" dirty="0">
                <a:solidFill>
                  <a:srgbClr val="FFFFFF"/>
                </a:solidFill>
                <a:latin typeface="Poppins"/>
              </a:rPr>
              <a:t> Apple</a:t>
            </a:r>
            <a:r>
              <a:rPr lang="ar-SA" sz="2800" dirty="0">
                <a:solidFill>
                  <a:srgbClr val="FFFFFF"/>
                </a:solidFill>
                <a:latin typeface="Poppins"/>
              </a:rPr>
              <a:t>، ويحدد معايير الهواتف الذكية عالمياً</a:t>
            </a:r>
            <a:endParaRPr lang="en-US" sz="2800" dirty="0">
              <a:solidFill>
                <a:srgbClr val="FFFFFF"/>
              </a:solidFill>
              <a:latin typeface="Poppins"/>
            </a:endParaRPr>
          </a:p>
          <a:p>
            <a:pPr marL="457200" lvl="0" indent="-457200" algn="r" rtl="1">
              <a:lnSpc>
                <a:spcPct val="150000"/>
              </a:lnSpc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sz="2800" dirty="0">
                <a:solidFill>
                  <a:srgbClr val="FFFFFF"/>
                </a:solidFill>
                <a:latin typeface="Poppins"/>
              </a:rPr>
              <a:t> :Mac </a:t>
            </a:r>
            <a:r>
              <a:rPr lang="ar-SA" sz="2800" dirty="0">
                <a:solidFill>
                  <a:srgbClr val="FFFFFF"/>
                </a:solidFill>
                <a:latin typeface="Poppins"/>
              </a:rPr>
              <a:t>أجهزة كمبيوتر شخصية ومحمولة تعتمد الآن على شرائح</a:t>
            </a:r>
            <a:r>
              <a:rPr lang="en-US" sz="2800" dirty="0">
                <a:solidFill>
                  <a:srgbClr val="FFFFFF"/>
                </a:solidFill>
                <a:latin typeface="Poppins"/>
              </a:rPr>
              <a:t> Apple Silicon</a:t>
            </a:r>
          </a:p>
          <a:p>
            <a:pPr marL="457200" lvl="0" indent="-457200" algn="r" rtl="1">
              <a:lnSpc>
                <a:spcPct val="150000"/>
              </a:lnSpc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sz="2800" dirty="0">
                <a:solidFill>
                  <a:srgbClr val="FFFFFF"/>
                </a:solidFill>
                <a:latin typeface="Poppins"/>
              </a:rPr>
              <a:t> :Apple Watch </a:t>
            </a:r>
            <a:r>
              <a:rPr lang="ar-SA" sz="2800" dirty="0">
                <a:solidFill>
                  <a:srgbClr val="FFFFFF"/>
                </a:solidFill>
                <a:latin typeface="Poppins"/>
              </a:rPr>
              <a:t>رائدة في مجال الأجهزة القابلة للارتداء</a:t>
            </a:r>
            <a:r>
              <a:rPr lang="en-US" sz="2800" dirty="0">
                <a:solidFill>
                  <a:srgbClr val="FFFFFF"/>
                </a:solidFill>
                <a:latin typeface="Poppins"/>
              </a:rPr>
              <a:t> Wearables</a:t>
            </a:r>
            <a:r>
              <a:rPr lang="ar-SA" sz="2800" dirty="0">
                <a:solidFill>
                  <a:srgbClr val="FFFFFF"/>
                </a:solidFill>
                <a:latin typeface="Poppins"/>
              </a:rPr>
              <a:t>، وتركز على الصحة واللياقة</a:t>
            </a:r>
            <a:endParaRPr lang="en-US" sz="2800" dirty="0">
              <a:solidFill>
                <a:srgbClr val="FFFFFF"/>
              </a:solidFill>
              <a:latin typeface="Poppins"/>
            </a:endParaRPr>
          </a:p>
          <a:p>
            <a:pPr marL="457200" lvl="0" indent="-457200" algn="r" rtl="1">
              <a:lnSpc>
                <a:spcPct val="150000"/>
              </a:lnSpc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US" sz="2800" dirty="0">
                <a:solidFill>
                  <a:srgbClr val="FFFFFF"/>
                </a:solidFill>
                <a:latin typeface="Poppins"/>
              </a:rPr>
              <a:t> :Apple Vision Pro</a:t>
            </a:r>
            <a:r>
              <a:rPr lang="ar-SA" sz="2800" dirty="0">
                <a:solidFill>
                  <a:srgbClr val="FFFFFF"/>
                </a:solidFill>
                <a:latin typeface="Poppins"/>
              </a:rPr>
              <a:t>أحدث مخرجات الشركة، تمثل اختراقاً للواقع المختلط</a:t>
            </a:r>
            <a:endParaRPr lang="en-US" sz="2800" dirty="0">
              <a:solidFill>
                <a:srgbClr val="FFFFFF"/>
              </a:solidFill>
              <a:latin typeface="Poppins"/>
            </a:endParaRP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lang="en-US" sz="2800" dirty="0">
                <a:solidFill>
                  <a:srgbClr val="FFFFFF"/>
                </a:solidFill>
                <a:latin typeface="Poppins"/>
              </a:rPr>
              <a:t> </a:t>
            </a:r>
          </a:p>
          <a:p>
            <a:pPr marL="457200" indent="-457200" algn="just" rtl="1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endParaRPr lang="en-US" sz="2800" dirty="0">
              <a:solidFill>
                <a:srgbClr val="FFFFFF"/>
              </a:solidFill>
              <a:latin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57810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9525000" cy="10287000"/>
            <a:chOff x="0" y="0"/>
            <a:chExt cx="1789026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89026" cy="2709333"/>
            </a:xfrm>
            <a:custGeom>
              <a:avLst/>
              <a:gdLst/>
              <a:ahLst/>
              <a:cxnLst/>
              <a:rect l="l" t="t" r="r" b="b"/>
              <a:pathLst>
                <a:path w="1789026" h="2709333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246833" y="8572500"/>
            <a:ext cx="897167" cy="2183545"/>
            <a:chOff x="0" y="0"/>
            <a:chExt cx="236291" cy="5750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6291" cy="575090"/>
            </a:xfrm>
            <a:custGeom>
              <a:avLst/>
              <a:gdLst/>
              <a:ahLst/>
              <a:cxnLst/>
              <a:rect l="l" t="t" r="r" b="b"/>
              <a:pathLst>
                <a:path w="236291" h="57509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52400" y="1814097"/>
            <a:ext cx="8967787" cy="25103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SA" sz="4708" b="1" dirty="0">
                <a:solidFill>
                  <a:srgbClr val="FFFFFF"/>
                </a:solidFill>
                <a:latin typeface="League Spartan"/>
              </a:rPr>
              <a:t>الخلاصة ورؤية المستقبل</a:t>
            </a:r>
            <a:endParaRPr lang="en-US" sz="4708" b="1" dirty="0">
              <a:solidFill>
                <a:srgbClr val="FFFFFF"/>
              </a:solidFill>
              <a:latin typeface="League Spartan"/>
            </a:endParaRPr>
          </a:p>
          <a:p>
            <a:pPr algn="r" rtl="1">
              <a:lnSpc>
                <a:spcPts val="6372"/>
              </a:lnSpc>
            </a:pPr>
            <a:r>
              <a:rPr lang="ar-YE" sz="4800" dirty="0"/>
              <a:t/>
            </a:r>
            <a:br>
              <a:rPr lang="ar-YE" sz="4800" dirty="0"/>
            </a:br>
            <a:endParaRPr lang="en-US" sz="4708" b="1" dirty="0">
              <a:solidFill>
                <a:srgbClr val="FFFFFF"/>
              </a:solidFill>
              <a:latin typeface="League Spartan"/>
              <a:sym typeface="Roboto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60191" y="2857500"/>
            <a:ext cx="8404617" cy="44689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r" rtl="1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ar-SA" sz="2800" dirty="0">
                <a:solidFill>
                  <a:srgbClr val="FFFFFF"/>
                </a:solidFill>
                <a:latin typeface="Poppins"/>
              </a:rPr>
              <a:t>تنجح</a:t>
            </a:r>
            <a:r>
              <a:rPr lang="en-US" sz="2800" dirty="0">
                <a:solidFill>
                  <a:srgbClr val="FFFFFF"/>
                </a:solidFill>
                <a:latin typeface="Poppins"/>
              </a:rPr>
              <a:t> Apple </a:t>
            </a:r>
            <a:r>
              <a:rPr lang="ar-SA" sz="2800" dirty="0">
                <a:solidFill>
                  <a:srgbClr val="FFFFFF"/>
                </a:solidFill>
                <a:latin typeface="Poppins"/>
              </a:rPr>
              <a:t>بدمج سلس بين المدخلات (تصميم فريد، شرائح داخلية) والأدوات (سلسلة إمداد فعالة، نظام تشغيلي متكامل)</a:t>
            </a:r>
            <a:endParaRPr lang="en-US" sz="2800" dirty="0">
              <a:solidFill>
                <a:srgbClr val="FFFFFF"/>
              </a:solidFill>
              <a:latin typeface="Poppins"/>
            </a:endParaRPr>
          </a:p>
          <a:p>
            <a:pPr marL="457200" indent="-457200" algn="r" rtl="1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ar-SA" sz="2800" dirty="0">
                <a:solidFill>
                  <a:srgbClr val="FFFFFF"/>
                </a:solidFill>
                <a:latin typeface="Poppins"/>
              </a:rPr>
              <a:t>تحول التركيز مؤخراً من الأجهزة فقط إلى الخدمات ونظم الدفع، مما يضمن تدفقاً مستمراً للإيرادات</a:t>
            </a:r>
            <a:endParaRPr lang="en-US" sz="2800" dirty="0">
              <a:solidFill>
                <a:srgbClr val="FFFFFF"/>
              </a:solidFill>
              <a:latin typeface="Poppins"/>
            </a:endParaRPr>
          </a:p>
          <a:p>
            <a:pPr marL="457200" indent="-457200" algn="r" rtl="1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ar-SA" sz="2800" dirty="0">
                <a:solidFill>
                  <a:srgbClr val="FFFFFF"/>
                </a:solidFill>
                <a:latin typeface="Poppins"/>
              </a:rPr>
              <a:t>المستقبل: يتوجه نحو الواقع المعزز</a:t>
            </a:r>
            <a:r>
              <a:rPr lang="en-US" sz="2800" dirty="0">
                <a:solidFill>
                  <a:srgbClr val="FFFFFF"/>
                </a:solidFill>
                <a:latin typeface="Poppins"/>
              </a:rPr>
              <a:t> (AR) </a:t>
            </a:r>
            <a:r>
              <a:rPr lang="ar-SA" sz="2800" dirty="0">
                <a:solidFill>
                  <a:srgbClr val="FFFFFF"/>
                </a:solidFill>
                <a:latin typeface="Poppins"/>
              </a:rPr>
              <a:t>والذكاء الاصطناعي، والاستدامة، مع استمرار التركيز على الخصوصية</a:t>
            </a:r>
            <a:endParaRPr lang="en-US" sz="2800" dirty="0">
              <a:solidFill>
                <a:srgbClr val="FFFFFF"/>
              </a:solidFill>
              <a:latin typeface="Poppins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</p:txBody>
      </p:sp>
      <p:grpSp>
        <p:nvGrpSpPr>
          <p:cNvPr id="15" name="Group 6">
            <a:extLst>
              <a:ext uri="{FF2B5EF4-FFF2-40B4-BE49-F238E27FC236}">
                <a16:creationId xmlns:a16="http://schemas.microsoft.com/office/drawing/2014/main" id="{B209B7BE-233F-4439-ACA2-EAFB9BE12D92}"/>
              </a:ext>
            </a:extLst>
          </p:cNvPr>
          <p:cNvGrpSpPr>
            <a:grpSpLocks noChangeAspect="1"/>
          </p:cNvGrpSpPr>
          <p:nvPr/>
        </p:nvGrpSpPr>
        <p:grpSpPr>
          <a:xfrm>
            <a:off x="12383016" y="1774507"/>
            <a:ext cx="5013951" cy="6737985"/>
            <a:chOff x="0" y="0"/>
            <a:chExt cx="3663950" cy="4923790"/>
          </a:xfrm>
        </p:grpSpPr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45AC5E1E-6341-4032-AAC6-568AC48DADCB}"/>
                </a:ext>
              </a:extLst>
            </p:cNvPr>
            <p:cNvSpPr/>
            <p:nvPr/>
          </p:nvSpPr>
          <p:spPr>
            <a:xfrm>
              <a:off x="31750" y="31750"/>
              <a:ext cx="3600450" cy="4859020"/>
            </a:xfrm>
            <a:custGeom>
              <a:avLst/>
              <a:gdLst/>
              <a:ahLst/>
              <a:cxnLst/>
              <a:rect l="l" t="t" r="r" b="b"/>
              <a:pathLst>
                <a:path w="3600450" h="485902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3"/>
              <a:stretch>
                <a:fillRect r="-102370"/>
              </a:stretch>
            </a:blipFill>
          </p:spPr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C9478F90-A419-47C4-AF69-62D642B98ED5}"/>
                </a:ext>
              </a:extLst>
            </p:cNvPr>
            <p:cNvSpPr/>
            <p:nvPr/>
          </p:nvSpPr>
          <p:spPr>
            <a:xfrm>
              <a:off x="0" y="0"/>
              <a:ext cx="3663950" cy="4923790"/>
            </a:xfrm>
            <a:custGeom>
              <a:avLst/>
              <a:gdLst/>
              <a:ahLst/>
              <a:cxnLst/>
              <a:rect l="l" t="t" r="r" b="b"/>
              <a:pathLst>
                <a:path w="3663950" h="492379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</p:spTree>
    <p:extLst>
      <p:ext uri="{BB962C8B-B14F-4D97-AF65-F5344CB8AC3E}">
        <p14:creationId xmlns:p14="http://schemas.microsoft.com/office/powerpoint/2010/main" val="583030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698500" y="3124200"/>
            <a:ext cx="5245100" cy="1332778"/>
            <a:chOff x="0" y="0"/>
            <a:chExt cx="1381426" cy="3510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81426" cy="351020"/>
            </a:xfrm>
            <a:custGeom>
              <a:avLst/>
              <a:gdLst/>
              <a:ahLst/>
              <a:cxnLst/>
              <a:rect l="l" t="t" r="r" b="b"/>
              <a:pathLst>
                <a:path w="1381426" h="351020">
                  <a:moveTo>
                    <a:pt x="75277" y="0"/>
                  </a:moveTo>
                  <a:lnTo>
                    <a:pt x="1306148" y="0"/>
                  </a:lnTo>
                  <a:cubicBezTo>
                    <a:pt x="1326113" y="0"/>
                    <a:pt x="1345260" y="7931"/>
                    <a:pt x="1359377" y="22048"/>
                  </a:cubicBezTo>
                  <a:cubicBezTo>
                    <a:pt x="1373495" y="36166"/>
                    <a:pt x="1381426" y="55313"/>
                    <a:pt x="1381426" y="75277"/>
                  </a:cubicBezTo>
                  <a:lnTo>
                    <a:pt x="1381426" y="275742"/>
                  </a:lnTo>
                  <a:cubicBezTo>
                    <a:pt x="1381426" y="295707"/>
                    <a:pt x="1373495" y="314854"/>
                    <a:pt x="1359377" y="328971"/>
                  </a:cubicBezTo>
                  <a:cubicBezTo>
                    <a:pt x="1345260" y="343089"/>
                    <a:pt x="1326113" y="351020"/>
                    <a:pt x="1306148" y="351020"/>
                  </a:cubicBezTo>
                  <a:lnTo>
                    <a:pt x="75277" y="351020"/>
                  </a:lnTo>
                  <a:cubicBezTo>
                    <a:pt x="55313" y="351020"/>
                    <a:pt x="36166" y="343089"/>
                    <a:pt x="22048" y="328971"/>
                  </a:cubicBezTo>
                  <a:cubicBezTo>
                    <a:pt x="7931" y="314854"/>
                    <a:pt x="0" y="295707"/>
                    <a:pt x="0" y="275742"/>
                  </a:cubicBezTo>
                  <a:lnTo>
                    <a:pt x="0" y="75277"/>
                  </a:lnTo>
                  <a:cubicBezTo>
                    <a:pt x="0" y="55313"/>
                    <a:pt x="7931" y="36166"/>
                    <a:pt x="22048" y="22048"/>
                  </a:cubicBezTo>
                  <a:cubicBezTo>
                    <a:pt x="36166" y="7931"/>
                    <a:pt x="55313" y="0"/>
                    <a:pt x="7527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381426" cy="39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741400" y="3124200"/>
            <a:ext cx="5118100" cy="1332778"/>
            <a:chOff x="0" y="0"/>
            <a:chExt cx="1347977" cy="3510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47977" cy="351020"/>
            </a:xfrm>
            <a:custGeom>
              <a:avLst/>
              <a:gdLst/>
              <a:ahLst/>
              <a:cxnLst/>
              <a:rect l="l" t="t" r="r" b="b"/>
              <a:pathLst>
                <a:path w="1347977" h="351020">
                  <a:moveTo>
                    <a:pt x="77145" y="0"/>
                  </a:moveTo>
                  <a:lnTo>
                    <a:pt x="1270832" y="0"/>
                  </a:lnTo>
                  <a:cubicBezTo>
                    <a:pt x="1291292" y="0"/>
                    <a:pt x="1310914" y="8128"/>
                    <a:pt x="1325382" y="22595"/>
                  </a:cubicBezTo>
                  <a:cubicBezTo>
                    <a:pt x="1339849" y="37063"/>
                    <a:pt x="1347977" y="56685"/>
                    <a:pt x="1347977" y="77145"/>
                  </a:cubicBezTo>
                  <a:lnTo>
                    <a:pt x="1347977" y="273874"/>
                  </a:lnTo>
                  <a:cubicBezTo>
                    <a:pt x="1347977" y="316480"/>
                    <a:pt x="1313438" y="351020"/>
                    <a:pt x="1270832" y="351020"/>
                  </a:cubicBezTo>
                  <a:lnTo>
                    <a:pt x="77145" y="351020"/>
                  </a:lnTo>
                  <a:cubicBezTo>
                    <a:pt x="34539" y="351020"/>
                    <a:pt x="0" y="316480"/>
                    <a:pt x="0" y="273874"/>
                  </a:cubicBezTo>
                  <a:lnTo>
                    <a:pt x="0" y="77145"/>
                  </a:lnTo>
                  <a:cubicBezTo>
                    <a:pt x="0" y="34539"/>
                    <a:pt x="34539" y="0"/>
                    <a:pt x="7714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347977" cy="39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933297" y="3191597"/>
            <a:ext cx="8421405" cy="1265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34"/>
              </a:lnSpc>
            </a:pPr>
            <a:r>
              <a:rPr lang="en-US" sz="7382" b="1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616824" y="6734174"/>
            <a:ext cx="3054350" cy="761278"/>
            <a:chOff x="0" y="0"/>
            <a:chExt cx="804438" cy="20050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04438" cy="200501"/>
            </a:xfrm>
            <a:custGeom>
              <a:avLst/>
              <a:gdLst/>
              <a:ahLst/>
              <a:cxnLst/>
              <a:rect l="l" t="t" r="r" b="b"/>
              <a:pathLst>
                <a:path w="804438" h="200501">
                  <a:moveTo>
                    <a:pt x="100251" y="0"/>
                  </a:moveTo>
                  <a:lnTo>
                    <a:pt x="704187" y="0"/>
                  </a:lnTo>
                  <a:cubicBezTo>
                    <a:pt x="730775" y="0"/>
                    <a:pt x="756275" y="10562"/>
                    <a:pt x="775075" y="29363"/>
                  </a:cubicBezTo>
                  <a:cubicBezTo>
                    <a:pt x="793876" y="48163"/>
                    <a:pt x="804438" y="73662"/>
                    <a:pt x="804438" y="100251"/>
                  </a:cubicBezTo>
                  <a:lnTo>
                    <a:pt x="804438" y="100251"/>
                  </a:lnTo>
                  <a:cubicBezTo>
                    <a:pt x="804438" y="155617"/>
                    <a:pt x="759554" y="200501"/>
                    <a:pt x="704187" y="200501"/>
                  </a:cubicBezTo>
                  <a:lnTo>
                    <a:pt x="100251" y="200501"/>
                  </a:lnTo>
                  <a:cubicBezTo>
                    <a:pt x="44884" y="200501"/>
                    <a:pt x="0" y="155617"/>
                    <a:pt x="0" y="100251"/>
                  </a:cubicBezTo>
                  <a:lnTo>
                    <a:pt x="0" y="100251"/>
                  </a:lnTo>
                  <a:cubicBezTo>
                    <a:pt x="0" y="44884"/>
                    <a:pt x="44884" y="0"/>
                    <a:pt x="100251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804438" cy="248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731</Words>
  <Application>Microsoft Office PowerPoint</Application>
  <PresentationFormat>مخصص</PresentationFormat>
  <Paragraphs>81</Paragraphs>
  <Slides>14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10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14</vt:i4>
      </vt:variant>
    </vt:vector>
  </HeadingPairs>
  <TitlesOfParts>
    <vt:vector size="25" baseType="lpstr">
      <vt:lpstr>Wingdings</vt:lpstr>
      <vt:lpstr>League Spartan</vt:lpstr>
      <vt:lpstr>Times New Roman</vt:lpstr>
      <vt:lpstr>Calibri</vt:lpstr>
      <vt:lpstr>Roboto Bold</vt:lpstr>
      <vt:lpstr>Courier New</vt:lpstr>
      <vt:lpstr>Roboto</vt:lpstr>
      <vt:lpstr>Montserrat Bold</vt:lpstr>
      <vt:lpstr>Poppins</vt:lpstr>
      <vt:lpstr>Arial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&amp; white company profile presentation</dc:title>
  <dc:creator>RAM</dc:creator>
  <cp:lastModifiedBy>Maher</cp:lastModifiedBy>
  <cp:revision>16</cp:revision>
  <dcterms:created xsi:type="dcterms:W3CDTF">2006-08-16T00:00:00Z</dcterms:created>
  <dcterms:modified xsi:type="dcterms:W3CDTF">2025-12-17T19:34:44Z</dcterms:modified>
  <dc:identifier>DAG5CcAxc4c</dc:identifier>
</cp:coreProperties>
</file>